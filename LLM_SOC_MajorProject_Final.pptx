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8288000" cy="10287000"/>
  <p:notesSz cx="6858000" cy="9144000"/>
  <p:embeddedFontLst>
    <p:embeddedFont>
      <p:font typeface="Georgia" panose="02040502050405020303" pitchFamily="18" charset="0"/>
      <p:regular r:id="rId24"/>
      <p:bold r:id="rId25"/>
      <p:italic r:id="rId26"/>
      <p:boldItalic r:id="rId27"/>
    </p:embeddedFont>
    <p:embeddedFont>
      <p:font typeface="Georgia Bold" panose="02040802050405020203" pitchFamily="18" charset="0"/>
      <p:regular r:id="rId28"/>
      <p:bold r:id="rId29"/>
    </p:embeddedFont>
    <p:embeddedFont>
      <p:font typeface="Georgia Italics" panose="020B0604020202020204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442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18.03.2026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17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20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658617" y="627383"/>
            <a:ext cx="4597403" cy="4597403"/>
            <a:chOff x="0" y="0"/>
            <a:chExt cx="6129871" cy="612987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129909" cy="6129782"/>
            </a:xfrm>
            <a:custGeom>
              <a:avLst/>
              <a:gdLst/>
              <a:ahLst/>
              <a:cxnLst/>
              <a:rect l="l" t="t" r="r" b="b"/>
              <a:pathLst>
                <a:path w="6129909" h="6129782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652777" y="1633223"/>
            <a:ext cx="4597403" cy="4597403"/>
            <a:chOff x="0" y="0"/>
            <a:chExt cx="6129871" cy="612987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129909" cy="6129782"/>
            </a:xfrm>
            <a:custGeom>
              <a:avLst/>
              <a:gdLst/>
              <a:ahLst/>
              <a:cxnLst/>
              <a:rect l="l" t="t" r="r" b="b"/>
              <a:pathLst>
                <a:path w="6129909" h="6129782">
                  <a:moveTo>
                    <a:pt x="0" y="3064891"/>
                  </a:moveTo>
                  <a:cubicBezTo>
                    <a:pt x="0" y="1372235"/>
                    <a:pt x="1372235" y="0"/>
                    <a:pt x="3064891" y="0"/>
                  </a:cubicBezTo>
                  <a:lnTo>
                    <a:pt x="3064891" y="16891"/>
                  </a:lnTo>
                  <a:lnTo>
                    <a:pt x="3064891" y="0"/>
                  </a:lnTo>
                  <a:cubicBezTo>
                    <a:pt x="4757674" y="0"/>
                    <a:pt x="6129909" y="1372235"/>
                    <a:pt x="6129909" y="3064891"/>
                  </a:cubicBezTo>
                  <a:cubicBezTo>
                    <a:pt x="6129909" y="4757547"/>
                    <a:pt x="4757674" y="6129782"/>
                    <a:pt x="3065018" y="6129782"/>
                  </a:cubicBezTo>
                  <a:lnTo>
                    <a:pt x="3065018" y="6112891"/>
                  </a:lnTo>
                  <a:lnTo>
                    <a:pt x="3065018" y="6129782"/>
                  </a:lnTo>
                  <a:cubicBezTo>
                    <a:pt x="1372235" y="6129909"/>
                    <a:pt x="0" y="4757674"/>
                    <a:pt x="0" y="3064891"/>
                  </a:cubicBezTo>
                  <a:lnTo>
                    <a:pt x="16891" y="3064891"/>
                  </a:lnTo>
                  <a:lnTo>
                    <a:pt x="29718" y="3075940"/>
                  </a:lnTo>
                  <a:cubicBezTo>
                    <a:pt x="25146" y="3081274"/>
                    <a:pt x="17653" y="3083306"/>
                    <a:pt x="10922" y="3080766"/>
                  </a:cubicBezTo>
                  <a:cubicBezTo>
                    <a:pt x="4191" y="3078226"/>
                    <a:pt x="0" y="3072003"/>
                    <a:pt x="0" y="3064891"/>
                  </a:cubicBezTo>
                  <a:moveTo>
                    <a:pt x="33909" y="3064891"/>
                  </a:moveTo>
                  <a:lnTo>
                    <a:pt x="16891" y="3064891"/>
                  </a:lnTo>
                  <a:lnTo>
                    <a:pt x="4064" y="3053842"/>
                  </a:lnTo>
                  <a:cubicBezTo>
                    <a:pt x="8636" y="3048508"/>
                    <a:pt x="16129" y="3046476"/>
                    <a:pt x="22860" y="3049016"/>
                  </a:cubicBezTo>
                  <a:cubicBezTo>
                    <a:pt x="29591" y="3051556"/>
                    <a:pt x="33909" y="3057779"/>
                    <a:pt x="33909" y="3064891"/>
                  </a:cubicBezTo>
                  <a:cubicBezTo>
                    <a:pt x="33909" y="4739005"/>
                    <a:pt x="1390904" y="6096000"/>
                    <a:pt x="3064891" y="6096000"/>
                  </a:cubicBezTo>
                  <a:cubicBezTo>
                    <a:pt x="4739005" y="6096000"/>
                    <a:pt x="6096000" y="4739005"/>
                    <a:pt x="6096000" y="3064891"/>
                  </a:cubicBezTo>
                  <a:lnTo>
                    <a:pt x="6112891" y="3064891"/>
                  </a:lnTo>
                  <a:lnTo>
                    <a:pt x="6096000" y="3064891"/>
                  </a:lnTo>
                  <a:cubicBezTo>
                    <a:pt x="6096000" y="1390904"/>
                    <a:pt x="4739005" y="33909"/>
                    <a:pt x="3064891" y="33909"/>
                  </a:cubicBezTo>
                  <a:lnTo>
                    <a:pt x="3064891" y="16891"/>
                  </a:lnTo>
                  <a:lnTo>
                    <a:pt x="3064891" y="33909"/>
                  </a:lnTo>
                  <a:cubicBezTo>
                    <a:pt x="1390904" y="33909"/>
                    <a:pt x="33909" y="1390904"/>
                    <a:pt x="33909" y="306489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493776" y="1773555"/>
            <a:ext cx="8961120" cy="6867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LLM-</a:t>
            </a:r>
          </a:p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Powered</a:t>
            </a:r>
          </a:p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SOC</a:t>
            </a:r>
          </a:p>
          <a:p>
            <a:pPr algn="l">
              <a:lnSpc>
                <a:spcPts val="14400"/>
              </a:lnSpc>
            </a:pPr>
            <a:r>
              <a:rPr lang="en-US" sz="120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Analyst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716519" y="1816103"/>
            <a:ext cx="25403" cy="6517643"/>
            <a:chOff x="0" y="0"/>
            <a:chExt cx="33871" cy="8690191"/>
          </a:xfrm>
        </p:grpSpPr>
        <p:sp>
          <p:nvSpPr>
            <p:cNvPr id="14" name="Freeform 14"/>
            <p:cNvSpPr/>
            <p:nvPr/>
          </p:nvSpPr>
          <p:spPr>
            <a:xfrm>
              <a:off x="0" y="16891"/>
              <a:ext cx="33909" cy="8656320"/>
            </a:xfrm>
            <a:custGeom>
              <a:avLst/>
              <a:gdLst/>
              <a:ahLst/>
              <a:cxnLst/>
              <a:rect l="l" t="t" r="r" b="b"/>
              <a:pathLst>
                <a:path w="33909" h="8656320">
                  <a:moveTo>
                    <a:pt x="33909" y="0"/>
                  </a:moveTo>
                  <a:lnTo>
                    <a:pt x="33909" y="8656320"/>
                  </a:lnTo>
                  <a:lnTo>
                    <a:pt x="0" y="8656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sp>
        <p:nvSpPr>
          <p:cNvPr id="15" name="TextBox 15"/>
          <p:cNvSpPr txBox="1"/>
          <p:nvPr/>
        </p:nvSpPr>
        <p:spPr>
          <a:xfrm>
            <a:off x="10058400" y="2038350"/>
            <a:ext cx="7680960" cy="1664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An AI-Driven Approach for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Intelligent Alert Triage</a:t>
            </a:r>
          </a:p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F5E6CC"/>
                </a:solidFill>
                <a:latin typeface="Georgia"/>
                <a:ea typeface="Georgia"/>
                <a:cs typeface="Georgia"/>
                <a:sym typeface="Georgia"/>
              </a:rPr>
              <a:t>and Incident Response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954263" y="3864359"/>
            <a:ext cx="7523483" cy="25403"/>
            <a:chOff x="0" y="0"/>
            <a:chExt cx="10031311" cy="33871"/>
          </a:xfrm>
        </p:grpSpPr>
        <p:sp>
          <p:nvSpPr>
            <p:cNvPr id="17" name="Freeform 17"/>
            <p:cNvSpPr/>
            <p:nvPr/>
          </p:nvSpPr>
          <p:spPr>
            <a:xfrm>
              <a:off x="16891" y="0"/>
              <a:ext cx="9997440" cy="33909"/>
            </a:xfrm>
            <a:custGeom>
              <a:avLst/>
              <a:gdLst/>
              <a:ahLst/>
              <a:cxnLst/>
              <a:rect l="l" t="t" r="r" b="b"/>
              <a:pathLst>
                <a:path w="9997440" h="33909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966960" y="4096512"/>
            <a:ext cx="7863840" cy="731520"/>
            <a:chOff x="0" y="0"/>
            <a:chExt cx="10485120" cy="97536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0485120" cy="975360"/>
            </a:xfrm>
            <a:custGeom>
              <a:avLst/>
              <a:gdLst/>
              <a:ahLst/>
              <a:cxnLst/>
              <a:rect l="l" t="t" r="r" b="b"/>
              <a:pathLst>
                <a:path w="10485120" h="97536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464" b="-15946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04851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Lokesh Zade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966960" y="4937760"/>
            <a:ext cx="7863840" cy="731520"/>
            <a:chOff x="0" y="0"/>
            <a:chExt cx="10485120" cy="97536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0485120" cy="975360"/>
            </a:xfrm>
            <a:custGeom>
              <a:avLst/>
              <a:gdLst/>
              <a:ahLst/>
              <a:cxnLst/>
              <a:rect l="l" t="t" r="r" b="b"/>
              <a:pathLst>
                <a:path w="10485120" h="97536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464" b="-159464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04851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Tejas Nair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966960" y="5779008"/>
            <a:ext cx="7863840" cy="731520"/>
            <a:chOff x="0" y="0"/>
            <a:chExt cx="1048512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0485120" cy="975360"/>
            </a:xfrm>
            <a:custGeom>
              <a:avLst/>
              <a:gdLst/>
              <a:ahLst/>
              <a:cxnLst/>
              <a:rect l="l" t="t" r="r" b="b"/>
              <a:pathLst>
                <a:path w="10485120" h="97536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464" b="-159464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19050"/>
              <a:ext cx="104851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Akash Pillai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966960" y="6620256"/>
            <a:ext cx="7863840" cy="731520"/>
            <a:chOff x="0" y="0"/>
            <a:chExt cx="10485120" cy="97536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85120" cy="975360"/>
            </a:xfrm>
            <a:custGeom>
              <a:avLst/>
              <a:gdLst/>
              <a:ahLst/>
              <a:cxnLst/>
              <a:rect l="l" t="t" r="r" b="b"/>
              <a:pathLst>
                <a:path w="10485120" h="975360">
                  <a:moveTo>
                    <a:pt x="0" y="0"/>
                  </a:moveTo>
                  <a:lnTo>
                    <a:pt x="10485120" y="0"/>
                  </a:lnTo>
                  <a:lnTo>
                    <a:pt x="10485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59464" b="-159464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04851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719"/>
                </a:lnSpc>
              </a:pPr>
              <a:r>
                <a:rPr lang="en-US" sz="30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Prem Patil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954263" y="7448807"/>
            <a:ext cx="7523483" cy="25403"/>
            <a:chOff x="0" y="0"/>
            <a:chExt cx="10031311" cy="33871"/>
          </a:xfrm>
        </p:grpSpPr>
        <p:sp>
          <p:nvSpPr>
            <p:cNvPr id="31" name="Freeform 31"/>
            <p:cNvSpPr/>
            <p:nvPr/>
          </p:nvSpPr>
          <p:spPr>
            <a:xfrm>
              <a:off x="16891" y="0"/>
              <a:ext cx="9997440" cy="33909"/>
            </a:xfrm>
            <a:custGeom>
              <a:avLst/>
              <a:gdLst/>
              <a:ahLst/>
              <a:cxnLst/>
              <a:rect l="l" t="t" r="r" b="b"/>
              <a:pathLst>
                <a:path w="9997440" h="33909">
                  <a:moveTo>
                    <a:pt x="0" y="0"/>
                  </a:moveTo>
                  <a:lnTo>
                    <a:pt x="9997440" y="0"/>
                  </a:lnTo>
                  <a:lnTo>
                    <a:pt x="9997440" y="33909"/>
                  </a:lnTo>
                  <a:lnTo>
                    <a:pt x="0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9966960" y="7644384"/>
            <a:ext cx="7863840" cy="658368"/>
            <a:chOff x="0" y="0"/>
            <a:chExt cx="10485120" cy="877824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10485120" cy="877824"/>
            </a:xfrm>
            <a:custGeom>
              <a:avLst/>
              <a:gdLst/>
              <a:ahLst/>
              <a:cxnLst/>
              <a:rect l="l" t="t" r="r" b="b"/>
              <a:pathLst>
                <a:path w="10485120" h="877824">
                  <a:moveTo>
                    <a:pt x="0" y="0"/>
                  </a:moveTo>
                  <a:lnTo>
                    <a:pt x="10485120" y="0"/>
                  </a:lnTo>
                  <a:lnTo>
                    <a:pt x="1048512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82737" b="-182737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-19050"/>
              <a:ext cx="1048512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Project guide :  Prof. Suresh Babu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966960" y="8375904"/>
            <a:ext cx="7863840" cy="512064"/>
            <a:chOff x="0" y="0"/>
            <a:chExt cx="10485120" cy="682752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85120" cy="682752"/>
            </a:xfrm>
            <a:custGeom>
              <a:avLst/>
              <a:gdLst/>
              <a:ahLst/>
              <a:cxnLst/>
              <a:rect l="l" t="t" r="r" b="b"/>
              <a:pathLst>
                <a:path w="10485120" h="682752">
                  <a:moveTo>
                    <a:pt x="0" y="0"/>
                  </a:moveTo>
                  <a:lnTo>
                    <a:pt x="10485120" y="0"/>
                  </a:lnTo>
                  <a:lnTo>
                    <a:pt x="104851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49234" b="-249234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10485120" cy="6922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400"/>
                </a:lnSpc>
              </a:pPr>
              <a:r>
                <a:rPr lang="en-US" sz="20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Dept. of Computer Engineering  |  AY 2025–2026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6334403" y="203216"/>
            <a:ext cx="1623870" cy="1367514"/>
            <a:chOff x="0" y="0"/>
            <a:chExt cx="2165160" cy="182335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2165223" cy="1823339"/>
            </a:xfrm>
            <a:custGeom>
              <a:avLst/>
              <a:gdLst/>
              <a:ahLst/>
              <a:cxnLst/>
              <a:rect l="l" t="t" r="r" b="b"/>
              <a:pathLst>
                <a:path w="2165223" h="1823339">
                  <a:moveTo>
                    <a:pt x="0" y="0"/>
                  </a:moveTo>
                  <a:lnTo>
                    <a:pt x="2165223" y="0"/>
                  </a:lnTo>
                  <a:lnTo>
                    <a:pt x="2165223" y="1823339"/>
                  </a:lnTo>
                  <a:lnTo>
                    <a:pt x="0" y="182333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683" r="2" b="-9684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29184" y="402336"/>
            <a:ext cx="8595360" cy="1060704"/>
            <a:chOff x="0" y="0"/>
            <a:chExt cx="11460480" cy="141427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1460480" cy="1414272"/>
            </a:xfrm>
            <a:custGeom>
              <a:avLst/>
              <a:gdLst/>
              <a:ahLst/>
              <a:cxnLst/>
              <a:rect l="l" t="t" r="r" b="b"/>
              <a:pathLst>
                <a:path w="11460480" h="1414272">
                  <a:moveTo>
                    <a:pt x="0" y="0"/>
                  </a:moveTo>
                  <a:lnTo>
                    <a:pt x="11460480" y="0"/>
                  </a:lnTo>
                  <a:lnTo>
                    <a:pt x="11460480" y="1414272"/>
                  </a:lnTo>
                  <a:lnTo>
                    <a:pt x="0" y="14142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07895" b="-107895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11460480" cy="14142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Presentation Outline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493776" y="1682115"/>
            <a:ext cx="8339328" cy="800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1. Introduction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2. Literature Survey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3. Summary of Literature Survey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4. Problem Statement, Scope &amp; Objectives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5. Existing System &amp; Limitations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6. Proposed System &amp; Architecture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7. System Modules &amp; Technology Stack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8. Performance Evaluation &amp; Applications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9. Conclusion, Future Scope &amp; References</a:t>
            </a:r>
          </a:p>
          <a:p>
            <a:pPr algn="l">
              <a:lnSpc>
                <a:spcPts val="3479"/>
              </a:lnSpc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10. Acknowledgement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9167879" y="389639"/>
            <a:ext cx="8803643" cy="9498587"/>
            <a:chOff x="0" y="0"/>
            <a:chExt cx="11738191" cy="12664783"/>
          </a:xfrm>
        </p:grpSpPr>
        <p:sp>
          <p:nvSpPr>
            <p:cNvPr id="16" name="Freeform 16"/>
            <p:cNvSpPr/>
            <p:nvPr/>
          </p:nvSpPr>
          <p:spPr>
            <a:xfrm>
              <a:off x="16891" y="16891"/>
              <a:ext cx="11704320" cy="12630912"/>
            </a:xfrm>
            <a:custGeom>
              <a:avLst/>
              <a:gdLst/>
              <a:ahLst/>
              <a:cxnLst/>
              <a:rect l="l" t="t" r="r" b="b"/>
              <a:pathLst>
                <a:path w="11704320" h="12630912">
                  <a:moveTo>
                    <a:pt x="0" y="0"/>
                  </a:moveTo>
                  <a:lnTo>
                    <a:pt x="11704320" y="0"/>
                  </a:lnTo>
                  <a:lnTo>
                    <a:pt x="11704320" y="12630912"/>
                  </a:lnTo>
                  <a:lnTo>
                    <a:pt x="0" y="12630912"/>
                  </a:lnTo>
                  <a:close/>
                </a:path>
              </a:pathLst>
            </a:custGeom>
            <a:solidFill>
              <a:srgbClr val="D8CDB8"/>
            </a:solidFill>
          </p:spPr>
        </p:sp>
        <p:sp>
          <p:nvSpPr>
            <p:cNvPr id="17" name="Freeform 17"/>
            <p:cNvSpPr/>
            <p:nvPr/>
          </p:nvSpPr>
          <p:spPr>
            <a:xfrm>
              <a:off x="0" y="0"/>
              <a:ext cx="11738101" cy="12664694"/>
            </a:xfrm>
            <a:custGeom>
              <a:avLst/>
              <a:gdLst/>
              <a:ahLst/>
              <a:cxnLst/>
              <a:rect l="l" t="t" r="r" b="b"/>
              <a:pathLst>
                <a:path w="11738101" h="12664694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12647803"/>
                  </a:lnTo>
                  <a:cubicBezTo>
                    <a:pt x="11738101" y="12657201"/>
                    <a:pt x="11730482" y="12664694"/>
                    <a:pt x="11721211" y="12664694"/>
                  </a:cubicBezTo>
                  <a:lnTo>
                    <a:pt x="16891" y="12664694"/>
                  </a:lnTo>
                  <a:cubicBezTo>
                    <a:pt x="7493" y="12664694"/>
                    <a:pt x="0" y="12657074"/>
                    <a:pt x="0" y="12647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647803"/>
                  </a:lnTo>
                  <a:lnTo>
                    <a:pt x="16891" y="12647803"/>
                  </a:lnTo>
                  <a:lnTo>
                    <a:pt x="16891" y="12630912"/>
                  </a:lnTo>
                  <a:lnTo>
                    <a:pt x="11721211" y="12630912"/>
                  </a:lnTo>
                  <a:lnTo>
                    <a:pt x="11721211" y="12647803"/>
                  </a:lnTo>
                  <a:lnTo>
                    <a:pt x="11704320" y="12647803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D8CDB8"/>
            </a:solidFill>
          </p:spPr>
        </p:sp>
      </p:grpSp>
      <p:grpSp>
        <p:nvGrpSpPr>
          <p:cNvPr id="18" name="Group 18"/>
          <p:cNvGrpSpPr/>
          <p:nvPr/>
        </p:nvGrpSpPr>
        <p:grpSpPr>
          <a:xfrm>
            <a:off x="9405623" y="883415"/>
            <a:ext cx="537467" cy="537467"/>
            <a:chOff x="0" y="0"/>
            <a:chExt cx="716623" cy="716623"/>
          </a:xfrm>
        </p:grpSpPr>
        <p:sp>
          <p:nvSpPr>
            <p:cNvPr id="19" name="Freeform 19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9625079" y="1395479"/>
            <a:ext cx="98555" cy="537467"/>
            <a:chOff x="0" y="0"/>
            <a:chExt cx="131407" cy="716623"/>
          </a:xfrm>
        </p:grpSpPr>
        <p:sp>
          <p:nvSpPr>
            <p:cNvPr id="22" name="Freeform 22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10082279" y="791975"/>
            <a:ext cx="7797803" cy="793499"/>
            <a:chOff x="0" y="0"/>
            <a:chExt cx="10397071" cy="1057999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10149840" y="804672"/>
            <a:ext cx="7680960" cy="768096"/>
            <a:chOff x="0" y="0"/>
            <a:chExt cx="10241280" cy="102412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Introduction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9405623" y="1980695"/>
            <a:ext cx="537467" cy="537467"/>
            <a:chOff x="0" y="0"/>
            <a:chExt cx="716623" cy="716623"/>
          </a:xfrm>
        </p:grpSpPr>
        <p:sp>
          <p:nvSpPr>
            <p:cNvPr id="31" name="Freeform 31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32" name="Freeform 32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33" name="Group 33"/>
          <p:cNvGrpSpPr/>
          <p:nvPr/>
        </p:nvGrpSpPr>
        <p:grpSpPr>
          <a:xfrm>
            <a:off x="9625079" y="2492759"/>
            <a:ext cx="98555" cy="537467"/>
            <a:chOff x="0" y="0"/>
            <a:chExt cx="131407" cy="716623"/>
          </a:xfrm>
        </p:grpSpPr>
        <p:sp>
          <p:nvSpPr>
            <p:cNvPr id="34" name="Freeform 34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5" name="Freeform 35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36" name="Group 36"/>
          <p:cNvGrpSpPr/>
          <p:nvPr/>
        </p:nvGrpSpPr>
        <p:grpSpPr>
          <a:xfrm>
            <a:off x="10082279" y="1889255"/>
            <a:ext cx="7797803" cy="793499"/>
            <a:chOff x="0" y="0"/>
            <a:chExt cx="10397071" cy="1057999"/>
          </a:xfrm>
        </p:grpSpPr>
        <p:sp>
          <p:nvSpPr>
            <p:cNvPr id="37" name="Freeform 37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38" name="Freeform 38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39" name="Group 39"/>
          <p:cNvGrpSpPr/>
          <p:nvPr/>
        </p:nvGrpSpPr>
        <p:grpSpPr>
          <a:xfrm>
            <a:off x="10149840" y="1901952"/>
            <a:ext cx="7680960" cy="768096"/>
            <a:chOff x="0" y="0"/>
            <a:chExt cx="10241280" cy="102412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Literature Survey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9405623" y="3077975"/>
            <a:ext cx="537467" cy="537467"/>
            <a:chOff x="0" y="0"/>
            <a:chExt cx="716623" cy="716623"/>
          </a:xfrm>
        </p:grpSpPr>
        <p:sp>
          <p:nvSpPr>
            <p:cNvPr id="43" name="Freeform 43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44" name="Freeform 44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45" name="Group 45"/>
          <p:cNvGrpSpPr/>
          <p:nvPr/>
        </p:nvGrpSpPr>
        <p:grpSpPr>
          <a:xfrm>
            <a:off x="9625079" y="3590039"/>
            <a:ext cx="98555" cy="537467"/>
            <a:chOff x="0" y="0"/>
            <a:chExt cx="131407" cy="716623"/>
          </a:xfrm>
        </p:grpSpPr>
        <p:sp>
          <p:nvSpPr>
            <p:cNvPr id="46" name="Freeform 46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7" name="Freeform 47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48" name="Group 48"/>
          <p:cNvGrpSpPr/>
          <p:nvPr/>
        </p:nvGrpSpPr>
        <p:grpSpPr>
          <a:xfrm>
            <a:off x="10082279" y="2986535"/>
            <a:ext cx="7797803" cy="793499"/>
            <a:chOff x="0" y="0"/>
            <a:chExt cx="10397071" cy="1057999"/>
          </a:xfrm>
        </p:grpSpPr>
        <p:sp>
          <p:nvSpPr>
            <p:cNvPr id="49" name="Freeform 49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50" name="Freeform 50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51" name="Group 51"/>
          <p:cNvGrpSpPr/>
          <p:nvPr/>
        </p:nvGrpSpPr>
        <p:grpSpPr>
          <a:xfrm>
            <a:off x="10149840" y="2999232"/>
            <a:ext cx="7680960" cy="768096"/>
            <a:chOff x="0" y="0"/>
            <a:chExt cx="10241280" cy="1024128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&amp; Objectives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405623" y="4175255"/>
            <a:ext cx="537467" cy="537467"/>
            <a:chOff x="0" y="0"/>
            <a:chExt cx="716623" cy="716623"/>
          </a:xfrm>
        </p:grpSpPr>
        <p:sp>
          <p:nvSpPr>
            <p:cNvPr id="55" name="Freeform 55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9625079" y="4687319"/>
            <a:ext cx="98555" cy="537467"/>
            <a:chOff x="0" y="0"/>
            <a:chExt cx="131407" cy="716623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60" name="Group 60"/>
          <p:cNvGrpSpPr/>
          <p:nvPr/>
        </p:nvGrpSpPr>
        <p:grpSpPr>
          <a:xfrm>
            <a:off x="10082279" y="4083815"/>
            <a:ext cx="7797803" cy="793499"/>
            <a:chOff x="0" y="0"/>
            <a:chExt cx="10397071" cy="1057999"/>
          </a:xfrm>
        </p:grpSpPr>
        <p:sp>
          <p:nvSpPr>
            <p:cNvPr id="61" name="Freeform 61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62" name="Freeform 62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63" name="Group 63"/>
          <p:cNvGrpSpPr/>
          <p:nvPr/>
        </p:nvGrpSpPr>
        <p:grpSpPr>
          <a:xfrm>
            <a:off x="10149840" y="4096512"/>
            <a:ext cx="7680960" cy="768096"/>
            <a:chOff x="0" y="0"/>
            <a:chExt cx="10241280" cy="1024128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System Architecture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405623" y="5272535"/>
            <a:ext cx="537467" cy="537467"/>
            <a:chOff x="0" y="0"/>
            <a:chExt cx="716623" cy="716623"/>
          </a:xfrm>
        </p:grpSpPr>
        <p:sp>
          <p:nvSpPr>
            <p:cNvPr id="67" name="Freeform 67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68" name="Freeform 68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69" name="Group 69"/>
          <p:cNvGrpSpPr/>
          <p:nvPr/>
        </p:nvGrpSpPr>
        <p:grpSpPr>
          <a:xfrm>
            <a:off x="9625079" y="5784599"/>
            <a:ext cx="98555" cy="537467"/>
            <a:chOff x="0" y="0"/>
            <a:chExt cx="131407" cy="716623"/>
          </a:xfrm>
        </p:grpSpPr>
        <p:sp>
          <p:nvSpPr>
            <p:cNvPr id="70" name="Freeform 70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72" name="Group 72"/>
          <p:cNvGrpSpPr/>
          <p:nvPr/>
        </p:nvGrpSpPr>
        <p:grpSpPr>
          <a:xfrm>
            <a:off x="10082279" y="5181095"/>
            <a:ext cx="7797803" cy="793499"/>
            <a:chOff x="0" y="0"/>
            <a:chExt cx="10397071" cy="1057999"/>
          </a:xfrm>
        </p:grpSpPr>
        <p:sp>
          <p:nvSpPr>
            <p:cNvPr id="73" name="Freeform 73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74" name="Freeform 74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75" name="Group 75"/>
          <p:cNvGrpSpPr/>
          <p:nvPr/>
        </p:nvGrpSpPr>
        <p:grpSpPr>
          <a:xfrm>
            <a:off x="10149840" y="5193792"/>
            <a:ext cx="7680960" cy="768096"/>
            <a:chOff x="0" y="0"/>
            <a:chExt cx="10241280" cy="1024128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77" name="TextBox 77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Technology Stack</a:t>
              </a:r>
            </a:p>
          </p:txBody>
        </p:sp>
      </p:grpSp>
      <p:grpSp>
        <p:nvGrpSpPr>
          <p:cNvPr id="78" name="Group 78"/>
          <p:cNvGrpSpPr/>
          <p:nvPr/>
        </p:nvGrpSpPr>
        <p:grpSpPr>
          <a:xfrm>
            <a:off x="9405623" y="6369815"/>
            <a:ext cx="537467" cy="537467"/>
            <a:chOff x="0" y="0"/>
            <a:chExt cx="716623" cy="716623"/>
          </a:xfrm>
        </p:grpSpPr>
        <p:sp>
          <p:nvSpPr>
            <p:cNvPr id="79" name="Freeform 79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80" name="Freeform 80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81" name="Group 81"/>
          <p:cNvGrpSpPr/>
          <p:nvPr/>
        </p:nvGrpSpPr>
        <p:grpSpPr>
          <a:xfrm>
            <a:off x="9625079" y="6881879"/>
            <a:ext cx="98555" cy="537467"/>
            <a:chOff x="0" y="0"/>
            <a:chExt cx="131407" cy="716623"/>
          </a:xfrm>
        </p:grpSpPr>
        <p:sp>
          <p:nvSpPr>
            <p:cNvPr id="82" name="Freeform 82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84" name="Group 84"/>
          <p:cNvGrpSpPr/>
          <p:nvPr/>
        </p:nvGrpSpPr>
        <p:grpSpPr>
          <a:xfrm>
            <a:off x="10082279" y="6278375"/>
            <a:ext cx="7797803" cy="793499"/>
            <a:chOff x="0" y="0"/>
            <a:chExt cx="10397071" cy="1057999"/>
          </a:xfrm>
        </p:grpSpPr>
        <p:sp>
          <p:nvSpPr>
            <p:cNvPr id="85" name="Freeform 85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86" name="Freeform 86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87" name="Group 87"/>
          <p:cNvGrpSpPr/>
          <p:nvPr/>
        </p:nvGrpSpPr>
        <p:grpSpPr>
          <a:xfrm>
            <a:off x="10149840" y="6291072"/>
            <a:ext cx="7680960" cy="768096"/>
            <a:chOff x="0" y="0"/>
            <a:chExt cx="10241280" cy="1024128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Performance &amp; Results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9405623" y="7467095"/>
            <a:ext cx="537467" cy="537467"/>
            <a:chOff x="0" y="0"/>
            <a:chExt cx="716623" cy="716623"/>
          </a:xfrm>
        </p:grpSpPr>
        <p:sp>
          <p:nvSpPr>
            <p:cNvPr id="91" name="Freeform 91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92" name="Freeform 92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93" name="Group 93"/>
          <p:cNvGrpSpPr/>
          <p:nvPr/>
        </p:nvGrpSpPr>
        <p:grpSpPr>
          <a:xfrm>
            <a:off x="9625079" y="7979159"/>
            <a:ext cx="98555" cy="537467"/>
            <a:chOff x="0" y="0"/>
            <a:chExt cx="131407" cy="716623"/>
          </a:xfrm>
        </p:grpSpPr>
        <p:sp>
          <p:nvSpPr>
            <p:cNvPr id="94" name="Freeform 94"/>
            <p:cNvSpPr/>
            <p:nvPr/>
          </p:nvSpPr>
          <p:spPr>
            <a:xfrm>
              <a:off x="16891" y="16891"/>
              <a:ext cx="97536" cy="682752"/>
            </a:xfrm>
            <a:custGeom>
              <a:avLst/>
              <a:gdLst/>
              <a:ahLst/>
              <a:cxnLst/>
              <a:rect l="l" t="t" r="r" b="b"/>
              <a:pathLst>
                <a:path w="97536" h="682752">
                  <a:moveTo>
                    <a:pt x="0" y="0"/>
                  </a:moveTo>
                  <a:lnTo>
                    <a:pt x="97536" y="0"/>
                  </a:lnTo>
                  <a:lnTo>
                    <a:pt x="97536" y="682752"/>
                  </a:lnTo>
                  <a:lnTo>
                    <a:pt x="0" y="68275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131318" cy="716536"/>
            </a:xfrm>
            <a:custGeom>
              <a:avLst/>
              <a:gdLst/>
              <a:ahLst/>
              <a:cxnLst/>
              <a:rect l="l" t="t" r="r" b="b"/>
              <a:pathLst>
                <a:path w="131318" h="716536">
                  <a:moveTo>
                    <a:pt x="16891" y="0"/>
                  </a:moveTo>
                  <a:lnTo>
                    <a:pt x="114427" y="0"/>
                  </a:lnTo>
                  <a:cubicBezTo>
                    <a:pt x="123825" y="0"/>
                    <a:pt x="131318" y="7620"/>
                    <a:pt x="131318" y="16891"/>
                  </a:cubicBezTo>
                  <a:lnTo>
                    <a:pt x="131318" y="699643"/>
                  </a:lnTo>
                  <a:cubicBezTo>
                    <a:pt x="131318" y="709041"/>
                    <a:pt x="123698" y="716534"/>
                    <a:pt x="114427" y="716534"/>
                  </a:cubicBezTo>
                  <a:lnTo>
                    <a:pt x="16891" y="716534"/>
                  </a:lnTo>
                  <a:cubicBezTo>
                    <a:pt x="7620" y="716661"/>
                    <a:pt x="0" y="709041"/>
                    <a:pt x="0" y="69964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99643"/>
                  </a:lnTo>
                  <a:lnTo>
                    <a:pt x="16891" y="699643"/>
                  </a:lnTo>
                  <a:lnTo>
                    <a:pt x="16891" y="682752"/>
                  </a:lnTo>
                  <a:lnTo>
                    <a:pt x="114427" y="682752"/>
                  </a:lnTo>
                  <a:lnTo>
                    <a:pt x="114427" y="699643"/>
                  </a:lnTo>
                  <a:lnTo>
                    <a:pt x="97536" y="699643"/>
                  </a:lnTo>
                  <a:lnTo>
                    <a:pt x="97536" y="16891"/>
                  </a:lnTo>
                  <a:lnTo>
                    <a:pt x="114427" y="16891"/>
                  </a:lnTo>
                  <a:lnTo>
                    <a:pt x="11442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3A1600"/>
            </a:solidFill>
          </p:spPr>
        </p:sp>
      </p:grpSp>
      <p:grpSp>
        <p:nvGrpSpPr>
          <p:cNvPr id="96" name="Group 96"/>
          <p:cNvGrpSpPr/>
          <p:nvPr/>
        </p:nvGrpSpPr>
        <p:grpSpPr>
          <a:xfrm>
            <a:off x="10082279" y="7375655"/>
            <a:ext cx="7797803" cy="793499"/>
            <a:chOff x="0" y="0"/>
            <a:chExt cx="10397071" cy="1057999"/>
          </a:xfrm>
        </p:grpSpPr>
        <p:sp>
          <p:nvSpPr>
            <p:cNvPr id="97" name="Freeform 97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98" name="Freeform 98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99" name="Group 99"/>
          <p:cNvGrpSpPr/>
          <p:nvPr/>
        </p:nvGrpSpPr>
        <p:grpSpPr>
          <a:xfrm>
            <a:off x="10149840" y="7388352"/>
            <a:ext cx="7680960" cy="768096"/>
            <a:chOff x="0" y="0"/>
            <a:chExt cx="10241280" cy="1024128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Applications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9405623" y="8564375"/>
            <a:ext cx="537467" cy="537467"/>
            <a:chOff x="0" y="0"/>
            <a:chExt cx="716623" cy="716623"/>
          </a:xfrm>
        </p:grpSpPr>
        <p:sp>
          <p:nvSpPr>
            <p:cNvPr id="103" name="Freeform 103"/>
            <p:cNvSpPr/>
            <p:nvPr/>
          </p:nvSpPr>
          <p:spPr>
            <a:xfrm>
              <a:off x="16891" y="16891"/>
              <a:ext cx="682752" cy="682752"/>
            </a:xfrm>
            <a:custGeom>
              <a:avLst/>
              <a:gdLst/>
              <a:ahLst/>
              <a:cxnLst/>
              <a:rect l="l" t="t" r="r" b="b"/>
              <a:pathLst>
                <a:path w="682752" h="682752">
                  <a:moveTo>
                    <a:pt x="0" y="341376"/>
                  </a:moveTo>
                  <a:cubicBezTo>
                    <a:pt x="0" y="152781"/>
                    <a:pt x="152781" y="0"/>
                    <a:pt x="341376" y="0"/>
                  </a:cubicBezTo>
                  <a:cubicBezTo>
                    <a:pt x="529971" y="0"/>
                    <a:pt x="682752" y="152908"/>
                    <a:pt x="682752" y="341376"/>
                  </a:cubicBezTo>
                  <a:cubicBezTo>
                    <a:pt x="682752" y="529844"/>
                    <a:pt x="529971" y="682752"/>
                    <a:pt x="341376" y="682752"/>
                  </a:cubicBezTo>
                  <a:cubicBezTo>
                    <a:pt x="152781" y="682752"/>
                    <a:pt x="0" y="529971"/>
                    <a:pt x="0" y="341376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  <p:sp>
          <p:nvSpPr>
            <p:cNvPr id="104" name="Freeform 104"/>
            <p:cNvSpPr/>
            <p:nvPr/>
          </p:nvSpPr>
          <p:spPr>
            <a:xfrm>
              <a:off x="0" y="0"/>
              <a:ext cx="716661" cy="716534"/>
            </a:xfrm>
            <a:custGeom>
              <a:avLst/>
              <a:gdLst/>
              <a:ahLst/>
              <a:cxnLst/>
              <a:rect l="l" t="t" r="r" b="b"/>
              <a:pathLst>
                <a:path w="716661" h="716534">
                  <a:moveTo>
                    <a:pt x="0" y="358267"/>
                  </a:moveTo>
                  <a:cubicBezTo>
                    <a:pt x="0" y="160401"/>
                    <a:pt x="160401" y="0"/>
                    <a:pt x="358267" y="0"/>
                  </a:cubicBezTo>
                  <a:lnTo>
                    <a:pt x="358267" y="16891"/>
                  </a:lnTo>
                  <a:lnTo>
                    <a:pt x="358267" y="0"/>
                  </a:lnTo>
                  <a:cubicBezTo>
                    <a:pt x="556260" y="0"/>
                    <a:pt x="716661" y="160401"/>
                    <a:pt x="716661" y="358267"/>
                  </a:cubicBezTo>
                  <a:lnTo>
                    <a:pt x="699643" y="358267"/>
                  </a:lnTo>
                  <a:lnTo>
                    <a:pt x="716534" y="358267"/>
                  </a:lnTo>
                  <a:cubicBezTo>
                    <a:pt x="716534" y="556133"/>
                    <a:pt x="556133" y="716534"/>
                    <a:pt x="358267" y="716534"/>
                  </a:cubicBezTo>
                  <a:lnTo>
                    <a:pt x="358267" y="699643"/>
                  </a:lnTo>
                  <a:lnTo>
                    <a:pt x="358267" y="716534"/>
                  </a:lnTo>
                  <a:cubicBezTo>
                    <a:pt x="160401" y="716661"/>
                    <a:pt x="0" y="556260"/>
                    <a:pt x="0" y="358267"/>
                  </a:cubicBezTo>
                  <a:lnTo>
                    <a:pt x="16891" y="358267"/>
                  </a:lnTo>
                  <a:lnTo>
                    <a:pt x="33909" y="358267"/>
                  </a:lnTo>
                  <a:lnTo>
                    <a:pt x="16891" y="358267"/>
                  </a:lnTo>
                  <a:lnTo>
                    <a:pt x="0" y="358267"/>
                  </a:lnTo>
                  <a:moveTo>
                    <a:pt x="33909" y="358267"/>
                  </a:moveTo>
                  <a:cubicBezTo>
                    <a:pt x="33909" y="367665"/>
                    <a:pt x="26289" y="375158"/>
                    <a:pt x="17018" y="375158"/>
                  </a:cubicBezTo>
                  <a:cubicBezTo>
                    <a:pt x="7747" y="375158"/>
                    <a:pt x="0" y="367665"/>
                    <a:pt x="0" y="358267"/>
                  </a:cubicBezTo>
                  <a:cubicBezTo>
                    <a:pt x="0" y="348869"/>
                    <a:pt x="7620" y="341376"/>
                    <a:pt x="16891" y="341376"/>
                  </a:cubicBezTo>
                  <a:cubicBezTo>
                    <a:pt x="26162" y="341376"/>
                    <a:pt x="33782" y="348996"/>
                    <a:pt x="33782" y="358267"/>
                  </a:cubicBezTo>
                  <a:cubicBezTo>
                    <a:pt x="33782" y="537464"/>
                    <a:pt x="179070" y="682752"/>
                    <a:pt x="358267" y="682752"/>
                  </a:cubicBezTo>
                  <a:cubicBezTo>
                    <a:pt x="537464" y="682752"/>
                    <a:pt x="682752" y="537464"/>
                    <a:pt x="682752" y="358267"/>
                  </a:cubicBezTo>
                  <a:cubicBezTo>
                    <a:pt x="682752" y="179070"/>
                    <a:pt x="537464" y="33782"/>
                    <a:pt x="358267" y="33782"/>
                  </a:cubicBezTo>
                  <a:lnTo>
                    <a:pt x="358267" y="16891"/>
                  </a:lnTo>
                  <a:lnTo>
                    <a:pt x="358267" y="33909"/>
                  </a:lnTo>
                  <a:cubicBezTo>
                    <a:pt x="179070" y="33909"/>
                    <a:pt x="33909" y="179070"/>
                    <a:pt x="33909" y="358267"/>
                  </a:cubicBezTo>
                  <a:close/>
                </a:path>
              </a:pathLst>
            </a:custGeom>
            <a:solidFill>
              <a:srgbClr val="D4870A"/>
            </a:solidFill>
          </p:spPr>
        </p:sp>
      </p:grpSp>
      <p:grpSp>
        <p:nvGrpSpPr>
          <p:cNvPr id="105" name="Group 105"/>
          <p:cNvGrpSpPr/>
          <p:nvPr/>
        </p:nvGrpSpPr>
        <p:grpSpPr>
          <a:xfrm>
            <a:off x="10082279" y="8472935"/>
            <a:ext cx="7797803" cy="793499"/>
            <a:chOff x="0" y="0"/>
            <a:chExt cx="10397071" cy="1057999"/>
          </a:xfrm>
        </p:grpSpPr>
        <p:sp>
          <p:nvSpPr>
            <p:cNvPr id="106" name="Freeform 106"/>
            <p:cNvSpPr/>
            <p:nvPr/>
          </p:nvSpPr>
          <p:spPr>
            <a:xfrm>
              <a:off x="16891" y="16891"/>
              <a:ext cx="10363200" cy="1024128"/>
            </a:xfrm>
            <a:custGeom>
              <a:avLst/>
              <a:gdLst/>
              <a:ahLst/>
              <a:cxnLst/>
              <a:rect l="l" t="t" r="r" b="b"/>
              <a:pathLst>
                <a:path w="10363200" h="1024128">
                  <a:moveTo>
                    <a:pt x="0" y="0"/>
                  </a:moveTo>
                  <a:lnTo>
                    <a:pt x="10363200" y="0"/>
                  </a:lnTo>
                  <a:lnTo>
                    <a:pt x="1036320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107" name="Freeform 107"/>
            <p:cNvSpPr/>
            <p:nvPr/>
          </p:nvSpPr>
          <p:spPr>
            <a:xfrm>
              <a:off x="0" y="0"/>
              <a:ext cx="10396982" cy="1057912"/>
            </a:xfrm>
            <a:custGeom>
              <a:avLst/>
              <a:gdLst/>
              <a:ahLst/>
              <a:cxnLst/>
              <a:rect l="l" t="t" r="r" b="b"/>
              <a:pathLst>
                <a:path w="10396982" h="1057912">
                  <a:moveTo>
                    <a:pt x="16891" y="0"/>
                  </a:moveTo>
                  <a:lnTo>
                    <a:pt x="10380091" y="0"/>
                  </a:lnTo>
                  <a:cubicBezTo>
                    <a:pt x="10389489" y="0"/>
                    <a:pt x="10396982" y="7620"/>
                    <a:pt x="10396982" y="16891"/>
                  </a:cubicBezTo>
                  <a:lnTo>
                    <a:pt x="10396982" y="1041019"/>
                  </a:lnTo>
                  <a:cubicBezTo>
                    <a:pt x="10396982" y="1050417"/>
                    <a:pt x="10389362" y="1057910"/>
                    <a:pt x="1038009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10380091" y="1024128"/>
                  </a:lnTo>
                  <a:lnTo>
                    <a:pt x="10380091" y="1041019"/>
                  </a:lnTo>
                  <a:lnTo>
                    <a:pt x="10363200" y="1041019"/>
                  </a:lnTo>
                  <a:lnTo>
                    <a:pt x="10363200" y="16891"/>
                  </a:lnTo>
                  <a:lnTo>
                    <a:pt x="10380091" y="16891"/>
                  </a:lnTo>
                  <a:lnTo>
                    <a:pt x="103800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4472C4"/>
            </a:solidFill>
          </p:spPr>
        </p:sp>
      </p:grpSp>
      <p:grpSp>
        <p:nvGrpSpPr>
          <p:cNvPr id="108" name="Group 108"/>
          <p:cNvGrpSpPr/>
          <p:nvPr/>
        </p:nvGrpSpPr>
        <p:grpSpPr>
          <a:xfrm>
            <a:off x="10149840" y="8485632"/>
            <a:ext cx="7680960" cy="768096"/>
            <a:chOff x="0" y="0"/>
            <a:chExt cx="10241280" cy="102412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10241280" cy="1024128"/>
            </a:xfrm>
            <a:custGeom>
              <a:avLst/>
              <a:gdLst/>
              <a:ahLst/>
              <a:cxnLst/>
              <a:rect l="l" t="t" r="r" b="b"/>
              <a:pathLst>
                <a:path w="10241280" h="1024128">
                  <a:moveTo>
                    <a:pt x="0" y="0"/>
                  </a:moveTo>
                  <a:lnTo>
                    <a:pt x="10241280" y="0"/>
                  </a:lnTo>
                  <a:lnTo>
                    <a:pt x="10241280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110" name="TextBox 110"/>
            <p:cNvSpPr txBox="1"/>
            <p:nvPr/>
          </p:nvSpPr>
          <p:spPr>
            <a:xfrm>
              <a:off x="0" y="-9525"/>
              <a:ext cx="10241280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Conclusion &amp; Future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74320" y="736097"/>
            <a:ext cx="17739360" cy="1024128"/>
            <a:chOff x="0" y="0"/>
            <a:chExt cx="23652480" cy="13655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Introduction</a:t>
              </a:r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433871" y="2897257"/>
            <a:ext cx="14447520" cy="5267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9770" lvl="1" indent="-349885" algn="l">
              <a:lnSpc>
                <a:spcPts val="3479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Modern Security Operations Centers (SOCs) face a relentless surge in cyber threats — volume, speed, and sophistication continuously rising.</a:t>
            </a:r>
          </a:p>
          <a:p>
            <a:pPr marL="699770" lvl="1" indent="-349885" algn="l">
              <a:lnSpc>
                <a:spcPts val="3479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Traditional SIEM/SOAR platforms rely on rigid, rule-based detection that fails against zero-day vulnerabilities, polymorphic malware, and living-off-the-land attacks.</a:t>
            </a:r>
          </a:p>
          <a:p>
            <a:pPr marL="699770" lvl="1" indent="-349885" algn="l">
              <a:lnSpc>
                <a:spcPts val="3479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Analysts manually review hundreds of alerts daily — over 80–99% are false positives, causing chronic alert fatigue and missed critical incidents.</a:t>
            </a:r>
          </a:p>
          <a:p>
            <a:pPr marL="699770" lvl="1" indent="-349885" algn="l">
              <a:lnSpc>
                <a:spcPts val="3479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 global shortage of 3.5 million+ skilled cybersecurity professionals compounds the response time problem significantly.</a:t>
            </a:r>
          </a:p>
          <a:p>
            <a:pPr marL="699770" lvl="1" indent="-349885" algn="l">
              <a:lnSpc>
                <a:spcPts val="3479"/>
              </a:lnSpc>
              <a:buFont typeface="Arial"/>
              <a:buChar char="•"/>
            </a:pPr>
            <a:r>
              <a:rPr lang="en-US" sz="29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This project proposes an LLM-Powered SOC Analyst integrated with a simulated SIEM — using RAG, MITRE ATT&amp;CK mapping, and contextual reasoning to automate triage and recommend incident response actions.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Literature Survey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183" y="1560071"/>
            <a:ext cx="720347" cy="720347"/>
            <a:chOff x="0" y="0"/>
            <a:chExt cx="960463" cy="96046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960374" cy="960376"/>
            </a:xfrm>
            <a:custGeom>
              <a:avLst/>
              <a:gdLst/>
              <a:ahLst/>
              <a:cxnLst/>
              <a:rect l="l" t="t" r="r" b="b"/>
              <a:pathLst>
                <a:path w="960374" h="960376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37744" y="1572768"/>
            <a:ext cx="585216" cy="694944"/>
            <a:chOff x="0" y="0"/>
            <a:chExt cx="780288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0288" cy="926592"/>
            </a:xfrm>
            <a:custGeom>
              <a:avLst/>
              <a:gdLst/>
              <a:ahLst/>
              <a:cxnLst/>
              <a:rect l="l" t="t" r="r" b="b"/>
              <a:pathLst>
                <a:path w="780288" h="926592">
                  <a:moveTo>
                    <a:pt x="0" y="0"/>
                  </a:moveTo>
                  <a:lnTo>
                    <a:pt x="780288" y="0"/>
                  </a:lnTo>
                  <a:lnTo>
                    <a:pt x="7802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360" r="-10236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802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Sr.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127" y="1560071"/>
            <a:ext cx="3463547" cy="720347"/>
            <a:chOff x="0" y="0"/>
            <a:chExt cx="4618063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4584192" cy="926592"/>
            </a:xfrm>
            <a:custGeom>
              <a:avLst/>
              <a:gdLst/>
              <a:ahLst/>
              <a:cxnLst/>
              <a:rect l="l" t="t" r="r" b="b"/>
              <a:pathLst>
                <a:path w="4584192" h="926592">
                  <a:moveTo>
                    <a:pt x="0" y="0"/>
                  </a:moveTo>
                  <a:lnTo>
                    <a:pt x="4584192" y="0"/>
                  </a:lnTo>
                  <a:lnTo>
                    <a:pt x="45841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4617974" cy="960376"/>
            </a:xfrm>
            <a:custGeom>
              <a:avLst/>
              <a:gdLst/>
              <a:ahLst/>
              <a:cxnLst/>
              <a:rect l="l" t="t" r="r" b="b"/>
              <a:pathLst>
                <a:path w="4617974" h="960376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943483"/>
                  </a:lnTo>
                  <a:cubicBezTo>
                    <a:pt x="4617974" y="952881"/>
                    <a:pt x="4610354" y="960374"/>
                    <a:pt x="46010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601083" y="926592"/>
                  </a:lnTo>
                  <a:lnTo>
                    <a:pt x="4601083" y="943483"/>
                  </a:lnTo>
                  <a:lnTo>
                    <a:pt x="4584192" y="943483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32688" y="1572768"/>
            <a:ext cx="3328416" cy="694944"/>
            <a:chOff x="0" y="0"/>
            <a:chExt cx="4437888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437888" cy="926592"/>
            </a:xfrm>
            <a:custGeom>
              <a:avLst/>
              <a:gdLst/>
              <a:ahLst/>
              <a:cxnLst/>
              <a:rect l="l" t="t" r="r" b="b"/>
              <a:pathLst>
                <a:path w="4437888" h="926592">
                  <a:moveTo>
                    <a:pt x="0" y="0"/>
                  </a:moveTo>
                  <a:lnTo>
                    <a:pt x="4437888" y="0"/>
                  </a:lnTo>
                  <a:lnTo>
                    <a:pt x="44378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4378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Paper Title &amp;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Author(s)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03271" y="1560071"/>
            <a:ext cx="3719579" cy="720347"/>
            <a:chOff x="0" y="0"/>
            <a:chExt cx="4959439" cy="96046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4925568" cy="926592"/>
            </a:xfrm>
            <a:custGeom>
              <a:avLst/>
              <a:gdLst/>
              <a:ahLst/>
              <a:cxnLst/>
              <a:rect l="l" t="t" r="r" b="b"/>
              <a:pathLst>
                <a:path w="4925568" h="926592">
                  <a:moveTo>
                    <a:pt x="0" y="0"/>
                  </a:moveTo>
                  <a:lnTo>
                    <a:pt x="4925568" y="0"/>
                  </a:lnTo>
                  <a:lnTo>
                    <a:pt x="492556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959350" cy="960376"/>
            </a:xfrm>
            <a:custGeom>
              <a:avLst/>
              <a:gdLst/>
              <a:ahLst/>
              <a:cxnLst/>
              <a:rect l="l" t="t" r="r" b="b"/>
              <a:pathLst>
                <a:path w="4959350" h="960376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943483"/>
                  </a:lnTo>
                  <a:cubicBezTo>
                    <a:pt x="4959350" y="952881"/>
                    <a:pt x="4951730" y="960374"/>
                    <a:pt x="494245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942459" y="926592"/>
                  </a:lnTo>
                  <a:lnTo>
                    <a:pt x="4942459" y="943483"/>
                  </a:lnTo>
                  <a:lnTo>
                    <a:pt x="4925568" y="943483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370832" y="1572768"/>
            <a:ext cx="3584448" cy="694944"/>
            <a:chOff x="0" y="0"/>
            <a:chExt cx="4779264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01" b="-505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779264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Addressed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997447" y="1560071"/>
            <a:ext cx="3683003" cy="720347"/>
            <a:chOff x="0" y="0"/>
            <a:chExt cx="4910671" cy="960463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910582" cy="960376"/>
            </a:xfrm>
            <a:custGeom>
              <a:avLst/>
              <a:gdLst/>
              <a:ahLst/>
              <a:cxnLst/>
              <a:rect l="l" t="t" r="r" b="b"/>
              <a:pathLst>
                <a:path w="4910582" h="96037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943483"/>
                  </a:lnTo>
                  <a:cubicBezTo>
                    <a:pt x="4910582" y="952881"/>
                    <a:pt x="4902962" y="960374"/>
                    <a:pt x="4893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893691" y="926592"/>
                  </a:lnTo>
                  <a:lnTo>
                    <a:pt x="4893691" y="943483"/>
                  </a:lnTo>
                  <a:lnTo>
                    <a:pt x="4876800" y="94348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065008" y="1572768"/>
            <a:ext cx="3547872" cy="694944"/>
            <a:chOff x="0" y="0"/>
            <a:chExt cx="4730496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30496" cy="926592"/>
            </a:xfrm>
            <a:custGeom>
              <a:avLst/>
              <a:gdLst/>
              <a:ahLst/>
              <a:cxnLst/>
              <a:rect l="l" t="t" r="r" b="b"/>
              <a:pathLst>
                <a:path w="4730496" h="926592">
                  <a:moveTo>
                    <a:pt x="0" y="0"/>
                  </a:moveTo>
                  <a:lnTo>
                    <a:pt x="4730496" y="0"/>
                  </a:lnTo>
                  <a:lnTo>
                    <a:pt x="47304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76" b="-4947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730496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Methodology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655047" y="1560071"/>
            <a:ext cx="3609851" cy="720347"/>
            <a:chOff x="0" y="0"/>
            <a:chExt cx="4813135" cy="96046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4813046" cy="960376"/>
            </a:xfrm>
            <a:custGeom>
              <a:avLst/>
              <a:gdLst/>
              <a:ahLst/>
              <a:cxnLst/>
              <a:rect l="l" t="t" r="r" b="b"/>
              <a:pathLst>
                <a:path w="4813046" h="96037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943483"/>
                  </a:lnTo>
                  <a:cubicBezTo>
                    <a:pt x="4813046" y="952881"/>
                    <a:pt x="4805426" y="960374"/>
                    <a:pt x="479615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796155" y="926592"/>
                  </a:lnTo>
                  <a:lnTo>
                    <a:pt x="4796155" y="943483"/>
                  </a:lnTo>
                  <a:lnTo>
                    <a:pt x="4779264" y="9434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722608" y="1572768"/>
            <a:ext cx="3474720" cy="694944"/>
            <a:chOff x="0" y="0"/>
            <a:chExt cx="463296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6329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Findings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239495" y="1560071"/>
            <a:ext cx="2914907" cy="720347"/>
            <a:chOff x="0" y="0"/>
            <a:chExt cx="3886543" cy="960463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852672" cy="926592"/>
            </a:xfrm>
            <a:custGeom>
              <a:avLst/>
              <a:gdLst/>
              <a:ahLst/>
              <a:cxnLst/>
              <a:rect l="l" t="t" r="r" b="b"/>
              <a:pathLst>
                <a:path w="3852672" h="92659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886454" cy="960376"/>
            </a:xfrm>
            <a:custGeom>
              <a:avLst/>
              <a:gdLst/>
              <a:ahLst/>
              <a:cxnLst/>
              <a:rect l="l" t="t" r="r" b="b"/>
              <a:pathLst>
                <a:path w="3886454" h="960376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943483"/>
                  </a:lnTo>
                  <a:cubicBezTo>
                    <a:pt x="3886454" y="952881"/>
                    <a:pt x="3878834" y="960374"/>
                    <a:pt x="38695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869563" y="926592"/>
                  </a:lnTo>
                  <a:lnTo>
                    <a:pt x="3869563" y="943483"/>
                  </a:lnTo>
                  <a:lnTo>
                    <a:pt x="3852672" y="943483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5307056" y="1572768"/>
            <a:ext cx="2779776" cy="694944"/>
            <a:chOff x="0" y="0"/>
            <a:chExt cx="3706368" cy="9265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06368" cy="926592"/>
            </a:xfrm>
            <a:custGeom>
              <a:avLst/>
              <a:gdLst/>
              <a:ahLst/>
              <a:cxnLst/>
              <a:rect l="l" t="t" r="r" b="b"/>
              <a:pathLst>
                <a:path w="3706368" h="926592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70636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Gap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0183" y="2291591"/>
            <a:ext cx="720347" cy="1854203"/>
            <a:chOff x="0" y="0"/>
            <a:chExt cx="960463" cy="247227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256032" y="2367915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01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65127" y="2291591"/>
            <a:ext cx="3463547" cy="1854203"/>
            <a:chOff x="0" y="0"/>
            <a:chExt cx="4618063" cy="2472271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950976" y="2367915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AI-Augmented SOC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(Srinivas et al., 2025)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J. Cybersec &amp; Privacy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4303271" y="2291591"/>
            <a:ext cx="3719579" cy="1854203"/>
            <a:chOff x="0" y="0"/>
            <a:chExt cx="4959439" cy="247227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4389120" y="2367915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LLMs needed for 8 core SOC functions; taxonomy missing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997447" y="2291591"/>
            <a:ext cx="3683003" cy="1854203"/>
            <a:chOff x="0" y="0"/>
            <a:chExt cx="4910671" cy="247227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8" name="TextBox 68"/>
          <p:cNvSpPr txBox="1"/>
          <p:nvPr/>
        </p:nvSpPr>
        <p:spPr>
          <a:xfrm>
            <a:off x="8083296" y="2367915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PRISMA review of 600+ papers; 105 selected for analysis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1655047" y="2291591"/>
            <a:ext cx="3609851" cy="1854203"/>
            <a:chOff x="0" y="0"/>
            <a:chExt cx="4813135" cy="2472271"/>
          </a:xfrm>
        </p:grpSpPr>
        <p:sp>
          <p:nvSpPr>
            <p:cNvPr id="70" name="Freeform 70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2" name="TextBox 72"/>
          <p:cNvSpPr txBox="1"/>
          <p:nvPr/>
        </p:nvSpPr>
        <p:spPr>
          <a:xfrm>
            <a:off x="11740896" y="2367915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Unified LLM-SOC maturity framework; AI improves triage, CTI, response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5239495" y="2291591"/>
            <a:ext cx="2914907" cy="1854203"/>
            <a:chOff x="0" y="0"/>
            <a:chExt cx="3886543" cy="2472271"/>
          </a:xfrm>
        </p:grpSpPr>
        <p:sp>
          <p:nvSpPr>
            <p:cNvPr id="74" name="Freeform 74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15325344" y="2367915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Black-box AI; hallucinations; legacy integration challenges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70183" y="4175255"/>
            <a:ext cx="720347" cy="1854203"/>
            <a:chOff x="0" y="0"/>
            <a:chExt cx="960463" cy="2472271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0" name="TextBox 80"/>
          <p:cNvSpPr txBox="1"/>
          <p:nvPr/>
        </p:nvSpPr>
        <p:spPr>
          <a:xfrm>
            <a:off x="256032" y="4251579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02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865127" y="4175255"/>
            <a:ext cx="3463547" cy="1854203"/>
            <a:chOff x="0" y="0"/>
            <a:chExt cx="4618063" cy="2472271"/>
          </a:xfrm>
        </p:grpSpPr>
        <p:sp>
          <p:nvSpPr>
            <p:cNvPr id="82" name="Freeform 82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950976" y="4251579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LLMs in the SOC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(Mohsin et al., 2025)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arXiv:2505.23397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4303271" y="4175255"/>
            <a:ext cx="3719579" cy="1854203"/>
            <a:chOff x="0" y="0"/>
            <a:chExt cx="4959439" cy="2472271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8" name="TextBox 88"/>
          <p:cNvSpPr txBox="1"/>
          <p:nvPr/>
        </p:nvSpPr>
        <p:spPr>
          <a:xfrm>
            <a:off x="4389120" y="4251579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Human-AI trust calibration in SOCs undefined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997447" y="4175255"/>
            <a:ext cx="3683003" cy="1854203"/>
            <a:chOff x="0" y="0"/>
            <a:chExt cx="4910671" cy="2472271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2" name="TextBox 92"/>
          <p:cNvSpPr txBox="1"/>
          <p:nvPr/>
        </p:nvSpPr>
        <p:spPr>
          <a:xfrm>
            <a:off x="8083296" y="4251579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5-tier autonomy framework with HITL roles and trust thresholds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1655047" y="4175255"/>
            <a:ext cx="3609851" cy="1854203"/>
            <a:chOff x="0" y="0"/>
            <a:chExt cx="4813135" cy="2472271"/>
          </a:xfrm>
        </p:grpSpPr>
        <p:sp>
          <p:nvSpPr>
            <p:cNvPr id="94" name="Freeform 94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6" name="TextBox 96"/>
          <p:cNvSpPr txBox="1"/>
          <p:nvPr/>
        </p:nvSpPr>
        <p:spPr>
          <a:xfrm>
            <a:off x="11740896" y="4251579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39% alert fatigue reduction; enhanced response coordination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15239495" y="4175255"/>
            <a:ext cx="2914907" cy="1854203"/>
            <a:chOff x="0" y="0"/>
            <a:chExt cx="3886543" cy="2472271"/>
          </a:xfrm>
        </p:grpSpPr>
        <p:sp>
          <p:nvSpPr>
            <p:cNvPr id="98" name="Freeform 98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9" name="Freeform 99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0" name="TextBox 100"/>
          <p:cNvSpPr txBox="1"/>
          <p:nvPr/>
        </p:nvSpPr>
        <p:spPr>
          <a:xfrm>
            <a:off x="15325344" y="4251579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Complex trust calibration; tested only in simulated cyber range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70183" y="6058919"/>
            <a:ext cx="720347" cy="1854203"/>
            <a:chOff x="0" y="0"/>
            <a:chExt cx="960463" cy="247227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4" name="TextBox 104"/>
          <p:cNvSpPr txBox="1"/>
          <p:nvPr/>
        </p:nvSpPr>
        <p:spPr>
          <a:xfrm>
            <a:off x="256032" y="6135243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03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865127" y="6058919"/>
            <a:ext cx="3463547" cy="1854203"/>
            <a:chOff x="0" y="0"/>
            <a:chExt cx="4618063" cy="2472271"/>
          </a:xfrm>
        </p:grpSpPr>
        <p:sp>
          <p:nvSpPr>
            <p:cNvPr id="106" name="Freeform 106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7" name="Freeform 107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8" name="TextBox 108"/>
          <p:cNvSpPr txBox="1"/>
          <p:nvPr/>
        </p:nvSpPr>
        <p:spPr>
          <a:xfrm>
            <a:off x="950976" y="6135243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LLM SOC Survey (2025)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arXiv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4303271" y="6058919"/>
            <a:ext cx="3719579" cy="1854203"/>
            <a:chOff x="0" y="0"/>
            <a:chExt cx="4959439" cy="2472271"/>
          </a:xfrm>
        </p:grpSpPr>
        <p:sp>
          <p:nvSpPr>
            <p:cNvPr id="110" name="Freeform 110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1" name="Freeform 111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2" name="TextBox 112"/>
          <p:cNvSpPr txBox="1"/>
          <p:nvPr/>
        </p:nvSpPr>
        <p:spPr>
          <a:xfrm>
            <a:off x="4389120" y="6135243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Fragmented literature on AI for security operations</a:t>
            </a:r>
          </a:p>
        </p:txBody>
      </p:sp>
      <p:grpSp>
        <p:nvGrpSpPr>
          <p:cNvPr id="113" name="Group 113"/>
          <p:cNvGrpSpPr/>
          <p:nvPr/>
        </p:nvGrpSpPr>
        <p:grpSpPr>
          <a:xfrm>
            <a:off x="7997447" y="6058919"/>
            <a:ext cx="3683003" cy="1854203"/>
            <a:chOff x="0" y="0"/>
            <a:chExt cx="4910671" cy="2472271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6" name="TextBox 116"/>
          <p:cNvSpPr txBox="1"/>
          <p:nvPr/>
        </p:nvSpPr>
        <p:spPr>
          <a:xfrm>
            <a:off x="8083296" y="6135243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Systematic review across 105 research papers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11655047" y="6058919"/>
            <a:ext cx="3609851" cy="1854203"/>
            <a:chOff x="0" y="0"/>
            <a:chExt cx="4813135" cy="2472271"/>
          </a:xfrm>
        </p:grpSpPr>
        <p:sp>
          <p:nvSpPr>
            <p:cNvPr id="118" name="Freeform 118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9" name="Freeform 119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0" name="TextBox 120"/>
          <p:cNvSpPr txBox="1"/>
          <p:nvPr/>
        </p:nvSpPr>
        <p:spPr>
          <a:xfrm>
            <a:off x="11740896" y="6135243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Identifies readiness gaps; best practices for AI-SOC integration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15239495" y="6058919"/>
            <a:ext cx="2914907" cy="1854203"/>
            <a:chOff x="0" y="0"/>
            <a:chExt cx="3886543" cy="2472271"/>
          </a:xfrm>
        </p:grpSpPr>
        <p:sp>
          <p:nvSpPr>
            <p:cNvPr id="122" name="Freeform 122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4" name="TextBox 124"/>
          <p:cNvSpPr txBox="1"/>
          <p:nvPr/>
        </p:nvSpPr>
        <p:spPr>
          <a:xfrm>
            <a:off x="15325344" y="6135243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real-world live enterprise deployment tested</a:t>
            </a:r>
          </a:p>
        </p:txBody>
      </p:sp>
      <p:grpSp>
        <p:nvGrpSpPr>
          <p:cNvPr id="125" name="Group 125"/>
          <p:cNvGrpSpPr/>
          <p:nvPr/>
        </p:nvGrpSpPr>
        <p:grpSpPr>
          <a:xfrm>
            <a:off x="170183" y="7942583"/>
            <a:ext cx="720347" cy="1854203"/>
            <a:chOff x="0" y="0"/>
            <a:chExt cx="960463" cy="2472271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8" name="TextBox 128"/>
          <p:cNvSpPr txBox="1"/>
          <p:nvPr/>
        </p:nvSpPr>
        <p:spPr>
          <a:xfrm>
            <a:off x="256032" y="8018907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04</a:t>
            </a:r>
          </a:p>
        </p:txBody>
      </p:sp>
      <p:grpSp>
        <p:nvGrpSpPr>
          <p:cNvPr id="129" name="Group 129"/>
          <p:cNvGrpSpPr/>
          <p:nvPr/>
        </p:nvGrpSpPr>
        <p:grpSpPr>
          <a:xfrm>
            <a:off x="865127" y="7942583"/>
            <a:ext cx="3463547" cy="1854203"/>
            <a:chOff x="0" y="0"/>
            <a:chExt cx="4618063" cy="2472271"/>
          </a:xfrm>
        </p:grpSpPr>
        <p:sp>
          <p:nvSpPr>
            <p:cNvPr id="130" name="Freeform 130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1" name="Freeform 131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32" name="TextBox 132"/>
          <p:cNvSpPr txBox="1"/>
          <p:nvPr/>
        </p:nvSpPr>
        <p:spPr>
          <a:xfrm>
            <a:off x="950976" y="8018907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CORTEX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(Wei et al., 2025)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arXiv:2510.00311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4303271" y="7942583"/>
            <a:ext cx="3719579" cy="1854203"/>
            <a:chOff x="0" y="0"/>
            <a:chExt cx="4959439" cy="2472271"/>
          </a:xfrm>
        </p:grpSpPr>
        <p:sp>
          <p:nvSpPr>
            <p:cNvPr id="134" name="Freeform 134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5" name="Freeform 135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36" name="TextBox 136"/>
          <p:cNvSpPr txBox="1"/>
          <p:nvPr/>
        </p:nvSpPr>
        <p:spPr>
          <a:xfrm>
            <a:off x="4389120" y="8018907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Single-agent LLMs fail on noisy enterprise log data</a:t>
            </a:r>
          </a:p>
        </p:txBody>
      </p:sp>
      <p:grpSp>
        <p:nvGrpSpPr>
          <p:cNvPr id="137" name="Group 137"/>
          <p:cNvGrpSpPr/>
          <p:nvPr/>
        </p:nvGrpSpPr>
        <p:grpSpPr>
          <a:xfrm>
            <a:off x="7997447" y="7942583"/>
            <a:ext cx="3683003" cy="1854203"/>
            <a:chOff x="0" y="0"/>
            <a:chExt cx="4910671" cy="2472271"/>
          </a:xfrm>
        </p:grpSpPr>
        <p:sp>
          <p:nvSpPr>
            <p:cNvPr id="138" name="Freeform 138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9" name="Freeform 139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0" name="TextBox 140"/>
          <p:cNvSpPr txBox="1"/>
          <p:nvPr/>
        </p:nvSpPr>
        <p:spPr>
          <a:xfrm>
            <a:off x="8083296" y="8018907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Multi-agent collaborative LLM with specialized reasoning agents</a:t>
            </a:r>
          </a:p>
        </p:txBody>
      </p:sp>
      <p:grpSp>
        <p:nvGrpSpPr>
          <p:cNvPr id="141" name="Group 141"/>
          <p:cNvGrpSpPr/>
          <p:nvPr/>
        </p:nvGrpSpPr>
        <p:grpSpPr>
          <a:xfrm>
            <a:off x="11655047" y="7942583"/>
            <a:ext cx="3609851" cy="1854203"/>
            <a:chOff x="0" y="0"/>
            <a:chExt cx="4813135" cy="2472271"/>
          </a:xfrm>
        </p:grpSpPr>
        <p:sp>
          <p:nvSpPr>
            <p:cNvPr id="142" name="Freeform 142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43" name="Freeform 143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4" name="TextBox 144"/>
          <p:cNvSpPr txBox="1"/>
          <p:nvPr/>
        </p:nvSpPr>
        <p:spPr>
          <a:xfrm>
            <a:off x="11740896" y="8018907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Significantly fewer false positives; auditable decision process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15239495" y="7942583"/>
            <a:ext cx="2914907" cy="1854203"/>
            <a:chOff x="0" y="0"/>
            <a:chExt cx="3886543" cy="2472271"/>
          </a:xfrm>
        </p:grpSpPr>
        <p:sp>
          <p:nvSpPr>
            <p:cNvPr id="146" name="Freeform 146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47" name="Freeform 147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8" name="TextBox 148"/>
          <p:cNvSpPr txBox="1"/>
          <p:nvPr/>
        </p:nvSpPr>
        <p:spPr>
          <a:xfrm>
            <a:off x="15325344" y="8018907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Communication overhead; scalability issues in multi-agent systems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Literature Survey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183" y="1560071"/>
            <a:ext cx="720347" cy="720347"/>
            <a:chOff x="0" y="0"/>
            <a:chExt cx="960463" cy="96046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960374" cy="960376"/>
            </a:xfrm>
            <a:custGeom>
              <a:avLst/>
              <a:gdLst/>
              <a:ahLst/>
              <a:cxnLst/>
              <a:rect l="l" t="t" r="r" b="b"/>
              <a:pathLst>
                <a:path w="960374" h="960376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37744" y="1572768"/>
            <a:ext cx="585216" cy="694944"/>
            <a:chOff x="0" y="0"/>
            <a:chExt cx="780288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0288" cy="926592"/>
            </a:xfrm>
            <a:custGeom>
              <a:avLst/>
              <a:gdLst/>
              <a:ahLst/>
              <a:cxnLst/>
              <a:rect l="l" t="t" r="r" b="b"/>
              <a:pathLst>
                <a:path w="780288" h="926592">
                  <a:moveTo>
                    <a:pt x="0" y="0"/>
                  </a:moveTo>
                  <a:lnTo>
                    <a:pt x="780288" y="0"/>
                  </a:lnTo>
                  <a:lnTo>
                    <a:pt x="7802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360" r="-10236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802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Sr.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127" y="1560071"/>
            <a:ext cx="3463547" cy="720347"/>
            <a:chOff x="0" y="0"/>
            <a:chExt cx="4618063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4584192" cy="926592"/>
            </a:xfrm>
            <a:custGeom>
              <a:avLst/>
              <a:gdLst/>
              <a:ahLst/>
              <a:cxnLst/>
              <a:rect l="l" t="t" r="r" b="b"/>
              <a:pathLst>
                <a:path w="4584192" h="926592">
                  <a:moveTo>
                    <a:pt x="0" y="0"/>
                  </a:moveTo>
                  <a:lnTo>
                    <a:pt x="4584192" y="0"/>
                  </a:lnTo>
                  <a:lnTo>
                    <a:pt x="45841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4617974" cy="960376"/>
            </a:xfrm>
            <a:custGeom>
              <a:avLst/>
              <a:gdLst/>
              <a:ahLst/>
              <a:cxnLst/>
              <a:rect l="l" t="t" r="r" b="b"/>
              <a:pathLst>
                <a:path w="4617974" h="960376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943483"/>
                  </a:lnTo>
                  <a:cubicBezTo>
                    <a:pt x="4617974" y="952881"/>
                    <a:pt x="4610354" y="960374"/>
                    <a:pt x="46010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601083" y="926592"/>
                  </a:lnTo>
                  <a:lnTo>
                    <a:pt x="4601083" y="943483"/>
                  </a:lnTo>
                  <a:lnTo>
                    <a:pt x="4584192" y="943483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32688" y="1572768"/>
            <a:ext cx="3328416" cy="694944"/>
            <a:chOff x="0" y="0"/>
            <a:chExt cx="4437888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437888" cy="926592"/>
            </a:xfrm>
            <a:custGeom>
              <a:avLst/>
              <a:gdLst/>
              <a:ahLst/>
              <a:cxnLst/>
              <a:rect l="l" t="t" r="r" b="b"/>
              <a:pathLst>
                <a:path w="4437888" h="926592">
                  <a:moveTo>
                    <a:pt x="0" y="0"/>
                  </a:moveTo>
                  <a:lnTo>
                    <a:pt x="4437888" y="0"/>
                  </a:lnTo>
                  <a:lnTo>
                    <a:pt x="44378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4378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Paper Title &amp;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Author(s)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03271" y="1560071"/>
            <a:ext cx="3719579" cy="720347"/>
            <a:chOff x="0" y="0"/>
            <a:chExt cx="4959439" cy="96046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4925568" cy="926592"/>
            </a:xfrm>
            <a:custGeom>
              <a:avLst/>
              <a:gdLst/>
              <a:ahLst/>
              <a:cxnLst/>
              <a:rect l="l" t="t" r="r" b="b"/>
              <a:pathLst>
                <a:path w="4925568" h="926592">
                  <a:moveTo>
                    <a:pt x="0" y="0"/>
                  </a:moveTo>
                  <a:lnTo>
                    <a:pt x="4925568" y="0"/>
                  </a:lnTo>
                  <a:lnTo>
                    <a:pt x="492556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959350" cy="960376"/>
            </a:xfrm>
            <a:custGeom>
              <a:avLst/>
              <a:gdLst/>
              <a:ahLst/>
              <a:cxnLst/>
              <a:rect l="l" t="t" r="r" b="b"/>
              <a:pathLst>
                <a:path w="4959350" h="960376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943483"/>
                  </a:lnTo>
                  <a:cubicBezTo>
                    <a:pt x="4959350" y="952881"/>
                    <a:pt x="4951730" y="960374"/>
                    <a:pt x="494245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942459" y="926592"/>
                  </a:lnTo>
                  <a:lnTo>
                    <a:pt x="4942459" y="943483"/>
                  </a:lnTo>
                  <a:lnTo>
                    <a:pt x="4925568" y="943483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370832" y="1572768"/>
            <a:ext cx="3584448" cy="694944"/>
            <a:chOff x="0" y="0"/>
            <a:chExt cx="4779264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01" b="-505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779264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Addressed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997447" y="1560071"/>
            <a:ext cx="3683003" cy="720347"/>
            <a:chOff x="0" y="0"/>
            <a:chExt cx="4910671" cy="960463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910582" cy="960376"/>
            </a:xfrm>
            <a:custGeom>
              <a:avLst/>
              <a:gdLst/>
              <a:ahLst/>
              <a:cxnLst/>
              <a:rect l="l" t="t" r="r" b="b"/>
              <a:pathLst>
                <a:path w="4910582" h="96037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943483"/>
                  </a:lnTo>
                  <a:cubicBezTo>
                    <a:pt x="4910582" y="952881"/>
                    <a:pt x="4902962" y="960374"/>
                    <a:pt x="4893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893691" y="926592"/>
                  </a:lnTo>
                  <a:lnTo>
                    <a:pt x="4893691" y="943483"/>
                  </a:lnTo>
                  <a:lnTo>
                    <a:pt x="4876800" y="94348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065008" y="1572768"/>
            <a:ext cx="3547872" cy="694944"/>
            <a:chOff x="0" y="0"/>
            <a:chExt cx="4730496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30496" cy="926592"/>
            </a:xfrm>
            <a:custGeom>
              <a:avLst/>
              <a:gdLst/>
              <a:ahLst/>
              <a:cxnLst/>
              <a:rect l="l" t="t" r="r" b="b"/>
              <a:pathLst>
                <a:path w="4730496" h="926592">
                  <a:moveTo>
                    <a:pt x="0" y="0"/>
                  </a:moveTo>
                  <a:lnTo>
                    <a:pt x="4730496" y="0"/>
                  </a:lnTo>
                  <a:lnTo>
                    <a:pt x="47304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76" b="-4947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730496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Methodology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655047" y="1560071"/>
            <a:ext cx="3609851" cy="720347"/>
            <a:chOff x="0" y="0"/>
            <a:chExt cx="4813135" cy="96046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4813046" cy="960376"/>
            </a:xfrm>
            <a:custGeom>
              <a:avLst/>
              <a:gdLst/>
              <a:ahLst/>
              <a:cxnLst/>
              <a:rect l="l" t="t" r="r" b="b"/>
              <a:pathLst>
                <a:path w="4813046" h="96037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943483"/>
                  </a:lnTo>
                  <a:cubicBezTo>
                    <a:pt x="4813046" y="952881"/>
                    <a:pt x="4805426" y="960374"/>
                    <a:pt x="479615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796155" y="926592"/>
                  </a:lnTo>
                  <a:lnTo>
                    <a:pt x="4796155" y="943483"/>
                  </a:lnTo>
                  <a:lnTo>
                    <a:pt x="4779264" y="9434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722608" y="1572768"/>
            <a:ext cx="3474720" cy="694944"/>
            <a:chOff x="0" y="0"/>
            <a:chExt cx="463296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6329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Findings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239495" y="1560071"/>
            <a:ext cx="2914907" cy="720347"/>
            <a:chOff x="0" y="0"/>
            <a:chExt cx="3886543" cy="960463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852672" cy="926592"/>
            </a:xfrm>
            <a:custGeom>
              <a:avLst/>
              <a:gdLst/>
              <a:ahLst/>
              <a:cxnLst/>
              <a:rect l="l" t="t" r="r" b="b"/>
              <a:pathLst>
                <a:path w="3852672" h="92659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886454" cy="960376"/>
            </a:xfrm>
            <a:custGeom>
              <a:avLst/>
              <a:gdLst/>
              <a:ahLst/>
              <a:cxnLst/>
              <a:rect l="l" t="t" r="r" b="b"/>
              <a:pathLst>
                <a:path w="3886454" h="960376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943483"/>
                  </a:lnTo>
                  <a:cubicBezTo>
                    <a:pt x="3886454" y="952881"/>
                    <a:pt x="3878834" y="960374"/>
                    <a:pt x="38695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869563" y="926592"/>
                  </a:lnTo>
                  <a:lnTo>
                    <a:pt x="3869563" y="943483"/>
                  </a:lnTo>
                  <a:lnTo>
                    <a:pt x="3852672" y="943483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5307056" y="1572768"/>
            <a:ext cx="2779776" cy="694944"/>
            <a:chOff x="0" y="0"/>
            <a:chExt cx="3706368" cy="9265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06368" cy="926592"/>
            </a:xfrm>
            <a:custGeom>
              <a:avLst/>
              <a:gdLst/>
              <a:ahLst/>
              <a:cxnLst/>
              <a:rect l="l" t="t" r="r" b="b"/>
              <a:pathLst>
                <a:path w="3706368" h="926592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70636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Gap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0183" y="2291591"/>
            <a:ext cx="720347" cy="1854203"/>
            <a:chOff x="0" y="0"/>
            <a:chExt cx="960463" cy="247227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256032" y="2367915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05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65127" y="2291591"/>
            <a:ext cx="3463547" cy="1854203"/>
            <a:chOff x="0" y="0"/>
            <a:chExt cx="4618063" cy="2472271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950976" y="2367915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LLM-IRAgent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(Reynolds, 2025)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ResearchGate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4303271" y="2291591"/>
            <a:ext cx="3719579" cy="1854203"/>
            <a:chOff x="0" y="0"/>
            <a:chExt cx="4959439" cy="247227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4389120" y="2367915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Manual triage slow, inconsistent across analysts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997447" y="2291591"/>
            <a:ext cx="3683003" cy="1854203"/>
            <a:chOff x="0" y="0"/>
            <a:chExt cx="4910671" cy="247227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8" name="TextBox 68"/>
          <p:cNvSpPr txBox="1"/>
          <p:nvPr/>
        </p:nvSpPr>
        <p:spPr>
          <a:xfrm>
            <a:off x="8083296" y="2367915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Policy-driven RAG agent for automated IR playbooks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1655047" y="2291591"/>
            <a:ext cx="3609851" cy="1854203"/>
            <a:chOff x="0" y="0"/>
            <a:chExt cx="4813135" cy="2472271"/>
          </a:xfrm>
        </p:grpSpPr>
        <p:sp>
          <p:nvSpPr>
            <p:cNvPr id="70" name="Freeform 70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2" name="TextBox 72"/>
          <p:cNvSpPr txBox="1"/>
          <p:nvPr/>
        </p:nvSpPr>
        <p:spPr>
          <a:xfrm>
            <a:off x="11740896" y="2367915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33% faster response; 39% workload reduction; lower hallucination rate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5239495" y="2291591"/>
            <a:ext cx="2914907" cy="1854203"/>
            <a:chOff x="0" y="0"/>
            <a:chExt cx="3886543" cy="2472271"/>
          </a:xfrm>
        </p:grpSpPr>
        <p:sp>
          <p:nvSpPr>
            <p:cNvPr id="74" name="Freeform 74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15325344" y="2367915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Prompt injection attack surface; ethical risks in automation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70183" y="4175255"/>
            <a:ext cx="720347" cy="1854203"/>
            <a:chOff x="0" y="0"/>
            <a:chExt cx="960463" cy="2472271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0" name="TextBox 80"/>
          <p:cNvSpPr txBox="1"/>
          <p:nvPr/>
        </p:nvSpPr>
        <p:spPr>
          <a:xfrm>
            <a:off x="256032" y="4251579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06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865127" y="4175255"/>
            <a:ext cx="3463547" cy="1854203"/>
            <a:chOff x="0" y="0"/>
            <a:chExt cx="4618063" cy="2472271"/>
          </a:xfrm>
        </p:grpSpPr>
        <p:sp>
          <p:nvSpPr>
            <p:cNvPr id="82" name="Freeform 82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950976" y="4251579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Autonomous IR + CTI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(Tellache et al., 2025)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arXiv:2508.10677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4303271" y="4175255"/>
            <a:ext cx="3719579" cy="1854203"/>
            <a:chOff x="0" y="0"/>
            <a:chExt cx="4959439" cy="2472271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8" name="TextBox 88"/>
          <p:cNvSpPr txBox="1"/>
          <p:nvPr/>
        </p:nvSpPr>
        <p:spPr>
          <a:xfrm>
            <a:off x="4389120" y="4251579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Fragmented unstructured CTI documents overwhelm teams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997447" y="4175255"/>
            <a:ext cx="3683003" cy="1854203"/>
            <a:chOff x="0" y="0"/>
            <a:chExt cx="4910671" cy="2472271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2" name="TextBox 92"/>
          <p:cNvSpPr txBox="1"/>
          <p:nvPr/>
        </p:nvSpPr>
        <p:spPr>
          <a:xfrm>
            <a:off x="8083296" y="4251579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RAG hybrid: NLP similarity + standardized CTI external queries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1655047" y="4175255"/>
            <a:ext cx="3609851" cy="1854203"/>
            <a:chOff x="0" y="0"/>
            <a:chExt cx="4813135" cy="2472271"/>
          </a:xfrm>
        </p:grpSpPr>
        <p:sp>
          <p:nvSpPr>
            <p:cNvPr id="94" name="Freeform 94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6" name="TextBox 96"/>
          <p:cNvSpPr txBox="1"/>
          <p:nvPr/>
        </p:nvSpPr>
        <p:spPr>
          <a:xfrm>
            <a:off x="11740896" y="4251579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Precise contextually relevant mitigation; reduced response latency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15239495" y="4175255"/>
            <a:ext cx="2914907" cy="1854203"/>
            <a:chOff x="0" y="0"/>
            <a:chExt cx="3886543" cy="2472271"/>
          </a:xfrm>
        </p:grpSpPr>
        <p:sp>
          <p:nvSpPr>
            <p:cNvPr id="98" name="Freeform 98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9" name="Freeform 99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0" name="TextBox 100"/>
          <p:cNvSpPr txBox="1"/>
          <p:nvPr/>
        </p:nvSpPr>
        <p:spPr>
          <a:xfrm>
            <a:off x="15325344" y="4251579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Effectiveness depends on CTI vector database quality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70183" y="6058919"/>
            <a:ext cx="720347" cy="1854203"/>
            <a:chOff x="0" y="0"/>
            <a:chExt cx="960463" cy="247227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4" name="TextBox 104"/>
          <p:cNvSpPr txBox="1"/>
          <p:nvPr/>
        </p:nvSpPr>
        <p:spPr>
          <a:xfrm>
            <a:off x="256032" y="6135243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07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865127" y="6058919"/>
            <a:ext cx="3463547" cy="1854203"/>
            <a:chOff x="0" y="0"/>
            <a:chExt cx="4618063" cy="2472271"/>
          </a:xfrm>
        </p:grpSpPr>
        <p:sp>
          <p:nvSpPr>
            <p:cNvPr id="106" name="Freeform 106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7" name="Freeform 107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8" name="TextBox 108"/>
          <p:cNvSpPr txBox="1"/>
          <p:nvPr/>
        </p:nvSpPr>
        <p:spPr>
          <a:xfrm>
            <a:off x="950976" y="6135243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LLM Threat Intel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(PeerJ, 2025)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4303271" y="6058919"/>
            <a:ext cx="3719579" cy="1854203"/>
            <a:chOff x="0" y="0"/>
            <a:chExt cx="4959439" cy="2472271"/>
          </a:xfrm>
        </p:grpSpPr>
        <p:sp>
          <p:nvSpPr>
            <p:cNvPr id="110" name="Freeform 110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1" name="Freeform 111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2" name="TextBox 112"/>
          <p:cNvSpPr txBox="1"/>
          <p:nvPr/>
        </p:nvSpPr>
        <p:spPr>
          <a:xfrm>
            <a:off x="4389120" y="6135243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Slow manual CTI investigation after incidents</a:t>
            </a:r>
          </a:p>
        </p:txBody>
      </p:sp>
      <p:grpSp>
        <p:nvGrpSpPr>
          <p:cNvPr id="113" name="Group 113"/>
          <p:cNvGrpSpPr/>
          <p:nvPr/>
        </p:nvGrpSpPr>
        <p:grpSpPr>
          <a:xfrm>
            <a:off x="7997447" y="6058919"/>
            <a:ext cx="3683003" cy="1854203"/>
            <a:chOff x="0" y="0"/>
            <a:chExt cx="4910671" cy="2472271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6" name="TextBox 116"/>
          <p:cNvSpPr txBox="1"/>
          <p:nvPr/>
        </p:nvSpPr>
        <p:spPr>
          <a:xfrm>
            <a:off x="8083296" y="6135243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RAG-driven attack investigation pipeline with enrichment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11655047" y="6058919"/>
            <a:ext cx="3609851" cy="1854203"/>
            <a:chOff x="0" y="0"/>
            <a:chExt cx="4813135" cy="2472271"/>
          </a:xfrm>
        </p:grpSpPr>
        <p:sp>
          <p:nvSpPr>
            <p:cNvPr id="118" name="Freeform 118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9" name="Freeform 119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0" name="TextBox 120"/>
          <p:cNvSpPr txBox="1"/>
          <p:nvPr/>
        </p:nvSpPr>
        <p:spPr>
          <a:xfrm>
            <a:off x="11740896" y="6135243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Improved attack attribution accuracy; faster IOC correlation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15239495" y="6058919"/>
            <a:ext cx="2914907" cy="1854203"/>
            <a:chOff x="0" y="0"/>
            <a:chExt cx="3886543" cy="2472271"/>
          </a:xfrm>
        </p:grpSpPr>
        <p:sp>
          <p:nvSpPr>
            <p:cNvPr id="122" name="Freeform 122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4" name="TextBox 124"/>
          <p:cNvSpPr txBox="1"/>
          <p:nvPr/>
        </p:nvSpPr>
        <p:spPr>
          <a:xfrm>
            <a:off x="15325344" y="6135243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Needs rich curated threat corpus for retrieval quality</a:t>
            </a:r>
          </a:p>
        </p:txBody>
      </p:sp>
      <p:grpSp>
        <p:nvGrpSpPr>
          <p:cNvPr id="125" name="Group 125"/>
          <p:cNvGrpSpPr/>
          <p:nvPr/>
        </p:nvGrpSpPr>
        <p:grpSpPr>
          <a:xfrm>
            <a:off x="170183" y="7942583"/>
            <a:ext cx="720347" cy="1854203"/>
            <a:chOff x="0" y="0"/>
            <a:chExt cx="960463" cy="2472271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8" name="TextBox 128"/>
          <p:cNvSpPr txBox="1"/>
          <p:nvPr/>
        </p:nvSpPr>
        <p:spPr>
          <a:xfrm>
            <a:off x="256032" y="8018907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08</a:t>
            </a:r>
          </a:p>
        </p:txBody>
      </p:sp>
      <p:grpSp>
        <p:nvGrpSpPr>
          <p:cNvPr id="129" name="Group 129"/>
          <p:cNvGrpSpPr/>
          <p:nvPr/>
        </p:nvGrpSpPr>
        <p:grpSpPr>
          <a:xfrm>
            <a:off x="865127" y="7942583"/>
            <a:ext cx="3463547" cy="1854203"/>
            <a:chOff x="0" y="0"/>
            <a:chExt cx="4618063" cy="2472271"/>
          </a:xfrm>
        </p:grpSpPr>
        <p:sp>
          <p:nvSpPr>
            <p:cNvPr id="130" name="Freeform 130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1" name="Freeform 131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32" name="TextBox 132"/>
          <p:cNvSpPr txBox="1"/>
          <p:nvPr/>
        </p:nvSpPr>
        <p:spPr>
          <a:xfrm>
            <a:off x="950976" y="8018907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Reducing False Alerts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via GenAI (KDD)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4303271" y="7942583"/>
            <a:ext cx="3719579" cy="1854203"/>
            <a:chOff x="0" y="0"/>
            <a:chExt cx="4959439" cy="2472271"/>
          </a:xfrm>
        </p:grpSpPr>
        <p:sp>
          <p:nvSpPr>
            <p:cNvPr id="134" name="Freeform 134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5" name="Freeform 135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36" name="TextBox 136"/>
          <p:cNvSpPr txBox="1"/>
          <p:nvPr/>
        </p:nvSpPr>
        <p:spPr>
          <a:xfrm>
            <a:off x="4389120" y="8018907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SIEM false positive rates exceed 80% in enterprise</a:t>
            </a:r>
          </a:p>
        </p:txBody>
      </p:sp>
      <p:grpSp>
        <p:nvGrpSpPr>
          <p:cNvPr id="137" name="Group 137"/>
          <p:cNvGrpSpPr/>
          <p:nvPr/>
        </p:nvGrpSpPr>
        <p:grpSpPr>
          <a:xfrm>
            <a:off x="7997447" y="7942583"/>
            <a:ext cx="3683003" cy="1854203"/>
            <a:chOff x="0" y="0"/>
            <a:chExt cx="4910671" cy="2472271"/>
          </a:xfrm>
        </p:grpSpPr>
        <p:sp>
          <p:nvSpPr>
            <p:cNvPr id="138" name="Freeform 138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9" name="Freeform 139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0" name="TextBox 140"/>
          <p:cNvSpPr txBox="1"/>
          <p:nvPr/>
        </p:nvSpPr>
        <p:spPr>
          <a:xfrm>
            <a:off x="8083296" y="8018907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Generative AI contextual filter applied to alert stream</a:t>
            </a:r>
          </a:p>
        </p:txBody>
      </p:sp>
      <p:grpSp>
        <p:nvGrpSpPr>
          <p:cNvPr id="141" name="Group 141"/>
          <p:cNvGrpSpPr/>
          <p:nvPr/>
        </p:nvGrpSpPr>
        <p:grpSpPr>
          <a:xfrm>
            <a:off x="11655047" y="7942583"/>
            <a:ext cx="3609851" cy="1854203"/>
            <a:chOff x="0" y="0"/>
            <a:chExt cx="4813135" cy="2472271"/>
          </a:xfrm>
        </p:grpSpPr>
        <p:sp>
          <p:nvSpPr>
            <p:cNvPr id="142" name="Freeform 142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43" name="Freeform 143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4" name="TextBox 144"/>
          <p:cNvSpPr txBox="1"/>
          <p:nvPr/>
        </p:nvSpPr>
        <p:spPr>
          <a:xfrm>
            <a:off x="11740896" y="8018907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Significant FP reduction in controlled test sets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15239495" y="7942583"/>
            <a:ext cx="2914907" cy="1854203"/>
            <a:chOff x="0" y="0"/>
            <a:chExt cx="3886543" cy="2472271"/>
          </a:xfrm>
        </p:grpSpPr>
        <p:sp>
          <p:nvSpPr>
            <p:cNvPr id="146" name="Freeform 146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47" name="Freeform 147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8" name="TextBox 148"/>
          <p:cNvSpPr txBox="1"/>
          <p:nvPr/>
        </p:nvSpPr>
        <p:spPr>
          <a:xfrm>
            <a:off x="15325344" y="8018907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Workshop paper; limited real production-scale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Literature Survey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70183" y="1560071"/>
            <a:ext cx="720347" cy="720347"/>
            <a:chOff x="0" y="0"/>
            <a:chExt cx="960463" cy="96046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960374" cy="960376"/>
            </a:xfrm>
            <a:custGeom>
              <a:avLst/>
              <a:gdLst/>
              <a:ahLst/>
              <a:cxnLst/>
              <a:rect l="l" t="t" r="r" b="b"/>
              <a:pathLst>
                <a:path w="960374" h="960376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237744" y="1572768"/>
            <a:ext cx="585216" cy="694944"/>
            <a:chOff x="0" y="0"/>
            <a:chExt cx="780288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780288" cy="926592"/>
            </a:xfrm>
            <a:custGeom>
              <a:avLst/>
              <a:gdLst/>
              <a:ahLst/>
              <a:cxnLst/>
              <a:rect l="l" t="t" r="r" b="b"/>
              <a:pathLst>
                <a:path w="780288" h="926592">
                  <a:moveTo>
                    <a:pt x="0" y="0"/>
                  </a:moveTo>
                  <a:lnTo>
                    <a:pt x="780288" y="0"/>
                  </a:lnTo>
                  <a:lnTo>
                    <a:pt x="7802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360" r="-102360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7802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Sr.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65127" y="1560071"/>
            <a:ext cx="3463547" cy="720347"/>
            <a:chOff x="0" y="0"/>
            <a:chExt cx="4618063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4584192" cy="926592"/>
            </a:xfrm>
            <a:custGeom>
              <a:avLst/>
              <a:gdLst/>
              <a:ahLst/>
              <a:cxnLst/>
              <a:rect l="l" t="t" r="r" b="b"/>
              <a:pathLst>
                <a:path w="4584192" h="926592">
                  <a:moveTo>
                    <a:pt x="0" y="0"/>
                  </a:moveTo>
                  <a:lnTo>
                    <a:pt x="4584192" y="0"/>
                  </a:lnTo>
                  <a:lnTo>
                    <a:pt x="45841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4617974" cy="960376"/>
            </a:xfrm>
            <a:custGeom>
              <a:avLst/>
              <a:gdLst/>
              <a:ahLst/>
              <a:cxnLst/>
              <a:rect l="l" t="t" r="r" b="b"/>
              <a:pathLst>
                <a:path w="4617974" h="960376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943483"/>
                  </a:lnTo>
                  <a:cubicBezTo>
                    <a:pt x="4617974" y="952881"/>
                    <a:pt x="4610354" y="960374"/>
                    <a:pt x="46010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601083" y="926592"/>
                  </a:lnTo>
                  <a:lnTo>
                    <a:pt x="4601083" y="943483"/>
                  </a:lnTo>
                  <a:lnTo>
                    <a:pt x="4584192" y="943483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932688" y="1572768"/>
            <a:ext cx="3328416" cy="694944"/>
            <a:chOff x="0" y="0"/>
            <a:chExt cx="4437888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437888" cy="926592"/>
            </a:xfrm>
            <a:custGeom>
              <a:avLst/>
              <a:gdLst/>
              <a:ahLst/>
              <a:cxnLst/>
              <a:rect l="l" t="t" r="r" b="b"/>
              <a:pathLst>
                <a:path w="4437888" h="926592">
                  <a:moveTo>
                    <a:pt x="0" y="0"/>
                  </a:moveTo>
                  <a:lnTo>
                    <a:pt x="4437888" y="0"/>
                  </a:lnTo>
                  <a:lnTo>
                    <a:pt x="44378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4378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Paper Title &amp;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Author(s)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4303271" y="1560071"/>
            <a:ext cx="3719579" cy="720347"/>
            <a:chOff x="0" y="0"/>
            <a:chExt cx="4959439" cy="96046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4925568" cy="926592"/>
            </a:xfrm>
            <a:custGeom>
              <a:avLst/>
              <a:gdLst/>
              <a:ahLst/>
              <a:cxnLst/>
              <a:rect l="l" t="t" r="r" b="b"/>
              <a:pathLst>
                <a:path w="4925568" h="926592">
                  <a:moveTo>
                    <a:pt x="0" y="0"/>
                  </a:moveTo>
                  <a:lnTo>
                    <a:pt x="4925568" y="0"/>
                  </a:lnTo>
                  <a:lnTo>
                    <a:pt x="492556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959350" cy="960376"/>
            </a:xfrm>
            <a:custGeom>
              <a:avLst/>
              <a:gdLst/>
              <a:ahLst/>
              <a:cxnLst/>
              <a:rect l="l" t="t" r="r" b="b"/>
              <a:pathLst>
                <a:path w="4959350" h="960376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943483"/>
                  </a:lnTo>
                  <a:cubicBezTo>
                    <a:pt x="4959350" y="952881"/>
                    <a:pt x="4951730" y="960374"/>
                    <a:pt x="494245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942459" y="926592"/>
                  </a:lnTo>
                  <a:lnTo>
                    <a:pt x="4942459" y="943483"/>
                  </a:lnTo>
                  <a:lnTo>
                    <a:pt x="4925568" y="943483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4370832" y="1572768"/>
            <a:ext cx="3584448" cy="694944"/>
            <a:chOff x="0" y="0"/>
            <a:chExt cx="4779264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01" b="-50501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779264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Addressed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997447" y="1560071"/>
            <a:ext cx="3683003" cy="720347"/>
            <a:chOff x="0" y="0"/>
            <a:chExt cx="4910671" cy="960463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910582" cy="960376"/>
            </a:xfrm>
            <a:custGeom>
              <a:avLst/>
              <a:gdLst/>
              <a:ahLst/>
              <a:cxnLst/>
              <a:rect l="l" t="t" r="r" b="b"/>
              <a:pathLst>
                <a:path w="4910582" h="96037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943483"/>
                  </a:lnTo>
                  <a:cubicBezTo>
                    <a:pt x="4910582" y="952881"/>
                    <a:pt x="4902962" y="960374"/>
                    <a:pt x="4893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893691" y="926592"/>
                  </a:lnTo>
                  <a:lnTo>
                    <a:pt x="4893691" y="943483"/>
                  </a:lnTo>
                  <a:lnTo>
                    <a:pt x="4876800" y="94348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8065008" y="1572768"/>
            <a:ext cx="3547872" cy="694944"/>
            <a:chOff x="0" y="0"/>
            <a:chExt cx="4730496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730496" cy="926592"/>
            </a:xfrm>
            <a:custGeom>
              <a:avLst/>
              <a:gdLst/>
              <a:ahLst/>
              <a:cxnLst/>
              <a:rect l="l" t="t" r="r" b="b"/>
              <a:pathLst>
                <a:path w="4730496" h="926592">
                  <a:moveTo>
                    <a:pt x="0" y="0"/>
                  </a:moveTo>
                  <a:lnTo>
                    <a:pt x="4730496" y="0"/>
                  </a:lnTo>
                  <a:lnTo>
                    <a:pt x="47304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76" b="-49476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730496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Methodology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1655047" y="1560071"/>
            <a:ext cx="3609851" cy="720347"/>
            <a:chOff x="0" y="0"/>
            <a:chExt cx="4813135" cy="96046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4813046" cy="960376"/>
            </a:xfrm>
            <a:custGeom>
              <a:avLst/>
              <a:gdLst/>
              <a:ahLst/>
              <a:cxnLst/>
              <a:rect l="l" t="t" r="r" b="b"/>
              <a:pathLst>
                <a:path w="4813046" h="96037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943483"/>
                  </a:lnTo>
                  <a:cubicBezTo>
                    <a:pt x="4813046" y="952881"/>
                    <a:pt x="4805426" y="960374"/>
                    <a:pt x="479615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796155" y="926592"/>
                  </a:lnTo>
                  <a:lnTo>
                    <a:pt x="4796155" y="943483"/>
                  </a:lnTo>
                  <a:lnTo>
                    <a:pt x="4779264" y="9434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1722608" y="1572768"/>
            <a:ext cx="3474720" cy="694944"/>
            <a:chOff x="0" y="0"/>
            <a:chExt cx="4632960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46329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Findings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5239495" y="1560071"/>
            <a:ext cx="2914907" cy="720347"/>
            <a:chOff x="0" y="0"/>
            <a:chExt cx="3886543" cy="960463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3852672" cy="926592"/>
            </a:xfrm>
            <a:custGeom>
              <a:avLst/>
              <a:gdLst/>
              <a:ahLst/>
              <a:cxnLst/>
              <a:rect l="l" t="t" r="r" b="b"/>
              <a:pathLst>
                <a:path w="3852672" h="92659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3886454" cy="960376"/>
            </a:xfrm>
            <a:custGeom>
              <a:avLst/>
              <a:gdLst/>
              <a:ahLst/>
              <a:cxnLst/>
              <a:rect l="l" t="t" r="r" b="b"/>
              <a:pathLst>
                <a:path w="3886454" h="960376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943483"/>
                  </a:lnTo>
                  <a:cubicBezTo>
                    <a:pt x="3886454" y="952881"/>
                    <a:pt x="3878834" y="960374"/>
                    <a:pt x="38695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869563" y="926592"/>
                  </a:lnTo>
                  <a:lnTo>
                    <a:pt x="3869563" y="943483"/>
                  </a:lnTo>
                  <a:lnTo>
                    <a:pt x="3852672" y="943483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50" name="Group 50"/>
          <p:cNvGrpSpPr/>
          <p:nvPr/>
        </p:nvGrpSpPr>
        <p:grpSpPr>
          <a:xfrm>
            <a:off x="15307056" y="1572768"/>
            <a:ext cx="2779776" cy="694944"/>
            <a:chOff x="0" y="0"/>
            <a:chExt cx="3706368" cy="926592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3706368" cy="926592"/>
            </a:xfrm>
            <a:custGeom>
              <a:avLst/>
              <a:gdLst/>
              <a:ahLst/>
              <a:cxnLst/>
              <a:rect l="l" t="t" r="r" b="b"/>
              <a:pathLst>
                <a:path w="3706368" h="926592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370636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Gap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70183" y="2291591"/>
            <a:ext cx="720347" cy="1854203"/>
            <a:chOff x="0" y="0"/>
            <a:chExt cx="960463" cy="2472271"/>
          </a:xfrm>
        </p:grpSpPr>
        <p:sp>
          <p:nvSpPr>
            <p:cNvPr id="54" name="Freeform 54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5" name="Freeform 55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56" name="TextBox 56"/>
          <p:cNvSpPr txBox="1"/>
          <p:nvPr/>
        </p:nvSpPr>
        <p:spPr>
          <a:xfrm>
            <a:off x="256032" y="2367915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09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865127" y="2291591"/>
            <a:ext cx="3463547" cy="1854203"/>
            <a:chOff x="0" y="0"/>
            <a:chExt cx="4618063" cy="2472271"/>
          </a:xfrm>
        </p:grpSpPr>
        <p:sp>
          <p:nvSpPr>
            <p:cNvPr id="58" name="Freeform 58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9" name="Freeform 59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0" name="TextBox 60"/>
          <p:cNvSpPr txBox="1"/>
          <p:nvPr/>
        </p:nvSpPr>
        <p:spPr>
          <a:xfrm>
            <a:off x="950976" y="2367915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Alert Fatigue in SOCs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(ACM Surveys)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4303271" y="2291591"/>
            <a:ext cx="3719579" cy="1854203"/>
            <a:chOff x="0" y="0"/>
            <a:chExt cx="4959439" cy="247227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4" name="TextBox 64"/>
          <p:cNvSpPr txBox="1"/>
          <p:nvPr/>
        </p:nvSpPr>
        <p:spPr>
          <a:xfrm>
            <a:off x="4389120" y="2367915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Root causes of analyst alert fatigue undefined</a:t>
            </a:r>
          </a:p>
        </p:txBody>
      </p:sp>
      <p:grpSp>
        <p:nvGrpSpPr>
          <p:cNvPr id="65" name="Group 65"/>
          <p:cNvGrpSpPr/>
          <p:nvPr/>
        </p:nvGrpSpPr>
        <p:grpSpPr>
          <a:xfrm>
            <a:off x="7997447" y="2291591"/>
            <a:ext cx="3683003" cy="1854203"/>
            <a:chOff x="0" y="0"/>
            <a:chExt cx="4910671" cy="2472271"/>
          </a:xfrm>
        </p:grpSpPr>
        <p:sp>
          <p:nvSpPr>
            <p:cNvPr id="66" name="Freeform 66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7" name="Freeform 67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8" name="TextBox 68"/>
          <p:cNvSpPr txBox="1"/>
          <p:nvPr/>
        </p:nvSpPr>
        <p:spPr>
          <a:xfrm>
            <a:off x="8083296" y="2367915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Survey of 300+ SOC practitioners across industries</a:t>
            </a:r>
          </a:p>
        </p:txBody>
      </p:sp>
      <p:grpSp>
        <p:nvGrpSpPr>
          <p:cNvPr id="69" name="Group 69"/>
          <p:cNvGrpSpPr/>
          <p:nvPr/>
        </p:nvGrpSpPr>
        <p:grpSpPr>
          <a:xfrm>
            <a:off x="11655047" y="2291591"/>
            <a:ext cx="3609851" cy="1854203"/>
            <a:chOff x="0" y="0"/>
            <a:chExt cx="4813135" cy="2472271"/>
          </a:xfrm>
        </p:grpSpPr>
        <p:sp>
          <p:nvSpPr>
            <p:cNvPr id="70" name="Freeform 70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71" name="Freeform 71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2" name="TextBox 72"/>
          <p:cNvSpPr txBox="1"/>
          <p:nvPr/>
        </p:nvSpPr>
        <p:spPr>
          <a:xfrm>
            <a:off x="11740896" y="2367915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Volume and irrelevance are top fatigue drivers; burnout correlation</a:t>
            </a:r>
          </a:p>
        </p:txBody>
      </p:sp>
      <p:grpSp>
        <p:nvGrpSpPr>
          <p:cNvPr id="73" name="Group 73"/>
          <p:cNvGrpSpPr/>
          <p:nvPr/>
        </p:nvGrpSpPr>
        <p:grpSpPr>
          <a:xfrm>
            <a:off x="15239495" y="2291591"/>
            <a:ext cx="2914907" cy="1854203"/>
            <a:chOff x="0" y="0"/>
            <a:chExt cx="3886543" cy="2472271"/>
          </a:xfrm>
        </p:grpSpPr>
        <p:sp>
          <p:nvSpPr>
            <p:cNvPr id="74" name="Freeform 74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75" name="Freeform 75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6" name="TextBox 76"/>
          <p:cNvSpPr txBox="1"/>
          <p:nvPr/>
        </p:nvSpPr>
        <p:spPr>
          <a:xfrm>
            <a:off x="15325344" y="2367915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No technical mitigation framework proposed</a:t>
            </a:r>
          </a:p>
        </p:txBody>
      </p:sp>
      <p:grpSp>
        <p:nvGrpSpPr>
          <p:cNvPr id="77" name="Group 77"/>
          <p:cNvGrpSpPr/>
          <p:nvPr/>
        </p:nvGrpSpPr>
        <p:grpSpPr>
          <a:xfrm>
            <a:off x="170183" y="4175255"/>
            <a:ext cx="720347" cy="1854203"/>
            <a:chOff x="0" y="0"/>
            <a:chExt cx="960463" cy="2472271"/>
          </a:xfrm>
        </p:grpSpPr>
        <p:sp>
          <p:nvSpPr>
            <p:cNvPr id="78" name="Freeform 78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79" name="Freeform 79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0" name="TextBox 80"/>
          <p:cNvSpPr txBox="1"/>
          <p:nvPr/>
        </p:nvSpPr>
        <p:spPr>
          <a:xfrm>
            <a:off x="256032" y="4251579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10</a:t>
            </a:r>
          </a:p>
        </p:txBody>
      </p:sp>
      <p:grpSp>
        <p:nvGrpSpPr>
          <p:cNvPr id="81" name="Group 81"/>
          <p:cNvGrpSpPr/>
          <p:nvPr/>
        </p:nvGrpSpPr>
        <p:grpSpPr>
          <a:xfrm>
            <a:off x="865127" y="4175255"/>
            <a:ext cx="3463547" cy="1854203"/>
            <a:chOff x="0" y="0"/>
            <a:chExt cx="4618063" cy="2472271"/>
          </a:xfrm>
        </p:grpSpPr>
        <p:sp>
          <p:nvSpPr>
            <p:cNvPr id="82" name="Freeform 82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3" name="Freeform 83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4" name="TextBox 84"/>
          <p:cNvSpPr txBox="1"/>
          <p:nvPr/>
        </p:nvSpPr>
        <p:spPr>
          <a:xfrm>
            <a:off x="950976" y="4251579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LLM-SIEM Integration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(2025)</a:t>
            </a:r>
          </a:p>
        </p:txBody>
      </p:sp>
      <p:grpSp>
        <p:nvGrpSpPr>
          <p:cNvPr id="85" name="Group 85"/>
          <p:cNvGrpSpPr/>
          <p:nvPr/>
        </p:nvGrpSpPr>
        <p:grpSpPr>
          <a:xfrm>
            <a:off x="4303271" y="4175255"/>
            <a:ext cx="3719579" cy="1854203"/>
            <a:chOff x="0" y="0"/>
            <a:chExt cx="4959439" cy="2472271"/>
          </a:xfrm>
        </p:grpSpPr>
        <p:sp>
          <p:nvSpPr>
            <p:cNvPr id="86" name="Freeform 86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7" name="Freeform 87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8" name="TextBox 88"/>
          <p:cNvSpPr txBox="1"/>
          <p:nvPr/>
        </p:nvSpPr>
        <p:spPr>
          <a:xfrm>
            <a:off x="4389120" y="4251579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Tier-1 triage entirely manual; analysts overwhelmed</a:t>
            </a:r>
          </a:p>
        </p:txBody>
      </p:sp>
      <p:grpSp>
        <p:nvGrpSpPr>
          <p:cNvPr id="89" name="Group 89"/>
          <p:cNvGrpSpPr/>
          <p:nvPr/>
        </p:nvGrpSpPr>
        <p:grpSpPr>
          <a:xfrm>
            <a:off x="7997447" y="4175255"/>
            <a:ext cx="3683003" cy="1854203"/>
            <a:chOff x="0" y="0"/>
            <a:chExt cx="4910671" cy="2472271"/>
          </a:xfrm>
        </p:grpSpPr>
        <p:sp>
          <p:nvSpPr>
            <p:cNvPr id="90" name="Freeform 90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1" name="Freeform 91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2" name="TextBox 92"/>
          <p:cNvSpPr txBox="1"/>
          <p:nvPr/>
        </p:nvSpPr>
        <p:spPr>
          <a:xfrm>
            <a:off x="8083296" y="4251579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LLM integrated directly into SIEM alert queue processing</a:t>
            </a:r>
          </a:p>
        </p:txBody>
      </p:sp>
      <p:grpSp>
        <p:nvGrpSpPr>
          <p:cNvPr id="93" name="Group 93"/>
          <p:cNvGrpSpPr/>
          <p:nvPr/>
        </p:nvGrpSpPr>
        <p:grpSpPr>
          <a:xfrm>
            <a:off x="11655047" y="4175255"/>
            <a:ext cx="3609851" cy="1854203"/>
            <a:chOff x="0" y="0"/>
            <a:chExt cx="4813135" cy="2472271"/>
          </a:xfrm>
        </p:grpSpPr>
        <p:sp>
          <p:nvSpPr>
            <p:cNvPr id="94" name="Freeform 94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5" name="Freeform 95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6" name="TextBox 96"/>
          <p:cNvSpPr txBox="1"/>
          <p:nvPr/>
        </p:nvSpPr>
        <p:spPr>
          <a:xfrm>
            <a:off x="11740896" y="4251579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Automated Tier-1 triage demonstrated in lab setting</a:t>
            </a:r>
          </a:p>
        </p:txBody>
      </p:sp>
      <p:grpSp>
        <p:nvGrpSpPr>
          <p:cNvPr id="97" name="Group 97"/>
          <p:cNvGrpSpPr/>
          <p:nvPr/>
        </p:nvGrpSpPr>
        <p:grpSpPr>
          <a:xfrm>
            <a:off x="15239495" y="4175255"/>
            <a:ext cx="2914907" cy="1854203"/>
            <a:chOff x="0" y="0"/>
            <a:chExt cx="3886543" cy="2472271"/>
          </a:xfrm>
        </p:grpSpPr>
        <p:sp>
          <p:nvSpPr>
            <p:cNvPr id="98" name="Freeform 98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9" name="Freeform 99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0" name="TextBox 100"/>
          <p:cNvSpPr txBox="1"/>
          <p:nvPr/>
        </p:nvSpPr>
        <p:spPr>
          <a:xfrm>
            <a:off x="15325344" y="4251579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Scalability at enterprise alert volumes untested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170183" y="6058919"/>
            <a:ext cx="720347" cy="1854203"/>
            <a:chOff x="0" y="0"/>
            <a:chExt cx="960463" cy="2472271"/>
          </a:xfrm>
        </p:grpSpPr>
        <p:sp>
          <p:nvSpPr>
            <p:cNvPr id="102" name="Freeform 102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3" name="Freeform 103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4" name="TextBox 104"/>
          <p:cNvSpPr txBox="1"/>
          <p:nvPr/>
        </p:nvSpPr>
        <p:spPr>
          <a:xfrm>
            <a:off x="256032" y="6135243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11</a:t>
            </a:r>
          </a:p>
        </p:txBody>
      </p:sp>
      <p:grpSp>
        <p:nvGrpSpPr>
          <p:cNvPr id="105" name="Group 105"/>
          <p:cNvGrpSpPr/>
          <p:nvPr/>
        </p:nvGrpSpPr>
        <p:grpSpPr>
          <a:xfrm>
            <a:off x="865127" y="6058919"/>
            <a:ext cx="3463547" cy="1854203"/>
            <a:chOff x="0" y="0"/>
            <a:chExt cx="4618063" cy="2472271"/>
          </a:xfrm>
        </p:grpSpPr>
        <p:sp>
          <p:nvSpPr>
            <p:cNvPr id="106" name="Freeform 106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7" name="Freeform 107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8" name="TextBox 108"/>
          <p:cNvSpPr txBox="1"/>
          <p:nvPr/>
        </p:nvSpPr>
        <p:spPr>
          <a:xfrm>
            <a:off x="950976" y="6135243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SIEM + IDS with ML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(Procedia CS)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4303271" y="6058919"/>
            <a:ext cx="3719579" cy="1854203"/>
            <a:chOff x="0" y="0"/>
            <a:chExt cx="4959439" cy="2472271"/>
          </a:xfrm>
        </p:grpSpPr>
        <p:sp>
          <p:nvSpPr>
            <p:cNvPr id="110" name="Freeform 110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1" name="Freeform 111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2" name="TextBox 112"/>
          <p:cNvSpPr txBox="1"/>
          <p:nvPr/>
        </p:nvSpPr>
        <p:spPr>
          <a:xfrm>
            <a:off x="4389120" y="6135243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Real-time IDS-SIEM integration gap in live environments</a:t>
            </a:r>
          </a:p>
        </p:txBody>
      </p:sp>
      <p:grpSp>
        <p:nvGrpSpPr>
          <p:cNvPr id="113" name="Group 113"/>
          <p:cNvGrpSpPr/>
          <p:nvPr/>
        </p:nvGrpSpPr>
        <p:grpSpPr>
          <a:xfrm>
            <a:off x="7997447" y="6058919"/>
            <a:ext cx="3683003" cy="1854203"/>
            <a:chOff x="0" y="0"/>
            <a:chExt cx="4910671" cy="2472271"/>
          </a:xfrm>
        </p:grpSpPr>
        <p:sp>
          <p:nvSpPr>
            <p:cNvPr id="114" name="Freeform 114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5" name="Freeform 115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6" name="TextBox 116"/>
          <p:cNvSpPr txBox="1"/>
          <p:nvPr/>
        </p:nvSpPr>
        <p:spPr>
          <a:xfrm>
            <a:off x="8083296" y="6135243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ML-based live log correlation engine with SIEM backend</a:t>
            </a:r>
          </a:p>
        </p:txBody>
      </p:sp>
      <p:grpSp>
        <p:nvGrpSpPr>
          <p:cNvPr id="117" name="Group 117"/>
          <p:cNvGrpSpPr/>
          <p:nvPr/>
        </p:nvGrpSpPr>
        <p:grpSpPr>
          <a:xfrm>
            <a:off x="11655047" y="6058919"/>
            <a:ext cx="3609851" cy="1854203"/>
            <a:chOff x="0" y="0"/>
            <a:chExt cx="4813135" cy="2472271"/>
          </a:xfrm>
        </p:grpSpPr>
        <p:sp>
          <p:nvSpPr>
            <p:cNvPr id="118" name="Freeform 118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9" name="Freeform 119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0" name="TextBox 120"/>
          <p:cNvSpPr txBox="1"/>
          <p:nvPr/>
        </p:nvSpPr>
        <p:spPr>
          <a:xfrm>
            <a:off x="11740896" y="6135243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Improved detection speed and classification accuracy</a:t>
            </a:r>
          </a:p>
        </p:txBody>
      </p:sp>
      <p:grpSp>
        <p:nvGrpSpPr>
          <p:cNvPr id="121" name="Group 121"/>
          <p:cNvGrpSpPr/>
          <p:nvPr/>
        </p:nvGrpSpPr>
        <p:grpSpPr>
          <a:xfrm>
            <a:off x="15239495" y="6058919"/>
            <a:ext cx="2914907" cy="1854203"/>
            <a:chOff x="0" y="0"/>
            <a:chExt cx="3886543" cy="2472271"/>
          </a:xfrm>
        </p:grpSpPr>
        <p:sp>
          <p:nvSpPr>
            <p:cNvPr id="122" name="Freeform 122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23" name="Freeform 123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4" name="TextBox 124"/>
          <p:cNvSpPr txBox="1"/>
          <p:nvPr/>
        </p:nvSpPr>
        <p:spPr>
          <a:xfrm>
            <a:off x="15325344" y="6135243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Limited to known signature-based IDS attack types</a:t>
            </a:r>
          </a:p>
        </p:txBody>
      </p:sp>
      <p:grpSp>
        <p:nvGrpSpPr>
          <p:cNvPr id="125" name="Group 125"/>
          <p:cNvGrpSpPr/>
          <p:nvPr/>
        </p:nvGrpSpPr>
        <p:grpSpPr>
          <a:xfrm>
            <a:off x="170183" y="7942583"/>
            <a:ext cx="720347" cy="1854203"/>
            <a:chOff x="0" y="0"/>
            <a:chExt cx="960463" cy="2472271"/>
          </a:xfrm>
        </p:grpSpPr>
        <p:sp>
          <p:nvSpPr>
            <p:cNvPr id="126" name="Freeform 126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27" name="Freeform 127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28" name="TextBox 128"/>
          <p:cNvSpPr txBox="1"/>
          <p:nvPr/>
        </p:nvSpPr>
        <p:spPr>
          <a:xfrm>
            <a:off x="256032" y="8018907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12</a:t>
            </a:r>
          </a:p>
        </p:txBody>
      </p:sp>
      <p:grpSp>
        <p:nvGrpSpPr>
          <p:cNvPr id="129" name="Group 129"/>
          <p:cNvGrpSpPr/>
          <p:nvPr/>
        </p:nvGrpSpPr>
        <p:grpSpPr>
          <a:xfrm>
            <a:off x="865127" y="7942583"/>
            <a:ext cx="3463547" cy="1854203"/>
            <a:chOff x="0" y="0"/>
            <a:chExt cx="4618063" cy="2472271"/>
          </a:xfrm>
        </p:grpSpPr>
        <p:sp>
          <p:nvSpPr>
            <p:cNvPr id="130" name="Freeform 130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1" name="Freeform 131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32" name="TextBox 132"/>
          <p:cNvSpPr txBox="1"/>
          <p:nvPr/>
        </p:nvSpPr>
        <p:spPr>
          <a:xfrm>
            <a:off x="950976" y="8018907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Log Anomaly via ML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(Springer, 2025)</a:t>
            </a:r>
          </a:p>
        </p:txBody>
      </p:sp>
      <p:grpSp>
        <p:nvGrpSpPr>
          <p:cNvPr id="133" name="Group 133"/>
          <p:cNvGrpSpPr/>
          <p:nvPr/>
        </p:nvGrpSpPr>
        <p:grpSpPr>
          <a:xfrm>
            <a:off x="4303271" y="7942583"/>
            <a:ext cx="3719579" cy="1854203"/>
            <a:chOff x="0" y="0"/>
            <a:chExt cx="4959439" cy="2472271"/>
          </a:xfrm>
        </p:grpSpPr>
        <p:sp>
          <p:nvSpPr>
            <p:cNvPr id="134" name="Freeform 134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5" name="Freeform 135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36" name="TextBox 136"/>
          <p:cNvSpPr txBox="1"/>
          <p:nvPr/>
        </p:nvSpPr>
        <p:spPr>
          <a:xfrm>
            <a:off x="4389120" y="8018907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Anomaly detection in high-volume log streams</a:t>
            </a:r>
          </a:p>
        </p:txBody>
      </p:sp>
      <p:grpSp>
        <p:nvGrpSpPr>
          <p:cNvPr id="137" name="Group 137"/>
          <p:cNvGrpSpPr/>
          <p:nvPr/>
        </p:nvGrpSpPr>
        <p:grpSpPr>
          <a:xfrm>
            <a:off x="7997447" y="7942583"/>
            <a:ext cx="3683003" cy="1854203"/>
            <a:chOff x="0" y="0"/>
            <a:chExt cx="4910671" cy="2472271"/>
          </a:xfrm>
        </p:grpSpPr>
        <p:sp>
          <p:nvSpPr>
            <p:cNvPr id="138" name="Freeform 138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39" name="Freeform 139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0" name="TextBox 140"/>
          <p:cNvSpPr txBox="1"/>
          <p:nvPr/>
        </p:nvSpPr>
        <p:spPr>
          <a:xfrm>
            <a:off x="8083296" y="8018907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Isolation Forest, Autoencoder on structured log data</a:t>
            </a:r>
          </a:p>
        </p:txBody>
      </p:sp>
      <p:grpSp>
        <p:nvGrpSpPr>
          <p:cNvPr id="141" name="Group 141"/>
          <p:cNvGrpSpPr/>
          <p:nvPr/>
        </p:nvGrpSpPr>
        <p:grpSpPr>
          <a:xfrm>
            <a:off x="11655047" y="7942583"/>
            <a:ext cx="3609851" cy="1854203"/>
            <a:chOff x="0" y="0"/>
            <a:chExt cx="4813135" cy="2472271"/>
          </a:xfrm>
        </p:grpSpPr>
        <p:sp>
          <p:nvSpPr>
            <p:cNvPr id="142" name="Freeform 142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43" name="Freeform 143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4" name="TextBox 144"/>
          <p:cNvSpPr txBox="1"/>
          <p:nvPr/>
        </p:nvSpPr>
        <p:spPr>
          <a:xfrm>
            <a:off x="11740896" y="8018907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Effective for known anomaly pattern recognition</a:t>
            </a:r>
          </a:p>
        </p:txBody>
      </p:sp>
      <p:grpSp>
        <p:nvGrpSpPr>
          <p:cNvPr id="145" name="Group 145"/>
          <p:cNvGrpSpPr/>
          <p:nvPr/>
        </p:nvGrpSpPr>
        <p:grpSpPr>
          <a:xfrm>
            <a:off x="15239495" y="7942583"/>
            <a:ext cx="2914907" cy="1854203"/>
            <a:chOff x="0" y="0"/>
            <a:chExt cx="3886543" cy="2472271"/>
          </a:xfrm>
        </p:grpSpPr>
        <p:sp>
          <p:nvSpPr>
            <p:cNvPr id="146" name="Freeform 146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147" name="Freeform 147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48" name="TextBox 148"/>
          <p:cNvSpPr txBox="1"/>
          <p:nvPr/>
        </p:nvSpPr>
        <p:spPr>
          <a:xfrm>
            <a:off x="15325344" y="8018907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Struggles with novel or unseen attack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Literature Survey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183" y="1560071"/>
            <a:ext cx="720347" cy="720347"/>
            <a:chOff x="0" y="0"/>
            <a:chExt cx="960463" cy="960463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926592" cy="926592"/>
            </a:xfrm>
            <a:custGeom>
              <a:avLst/>
              <a:gdLst/>
              <a:ahLst/>
              <a:cxnLst/>
              <a:rect l="l" t="t" r="r" b="b"/>
              <a:pathLst>
                <a:path w="926592" h="926592">
                  <a:moveTo>
                    <a:pt x="0" y="0"/>
                  </a:moveTo>
                  <a:lnTo>
                    <a:pt x="926592" y="0"/>
                  </a:lnTo>
                  <a:lnTo>
                    <a:pt x="9265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960374" cy="960376"/>
            </a:xfrm>
            <a:custGeom>
              <a:avLst/>
              <a:gdLst/>
              <a:ahLst/>
              <a:cxnLst/>
              <a:rect l="l" t="t" r="r" b="b"/>
              <a:pathLst>
                <a:path w="960374" h="960376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943483"/>
                  </a:lnTo>
                  <a:cubicBezTo>
                    <a:pt x="960374" y="952881"/>
                    <a:pt x="952754" y="960374"/>
                    <a:pt x="9434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943483" y="926592"/>
                  </a:lnTo>
                  <a:lnTo>
                    <a:pt x="943483" y="943483"/>
                  </a:lnTo>
                  <a:lnTo>
                    <a:pt x="926592" y="943483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237744" y="1572768"/>
            <a:ext cx="585216" cy="694944"/>
            <a:chOff x="0" y="0"/>
            <a:chExt cx="780288" cy="92659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780288" cy="926592"/>
            </a:xfrm>
            <a:custGeom>
              <a:avLst/>
              <a:gdLst/>
              <a:ahLst/>
              <a:cxnLst/>
              <a:rect l="l" t="t" r="r" b="b"/>
              <a:pathLst>
                <a:path w="780288" h="926592">
                  <a:moveTo>
                    <a:pt x="0" y="0"/>
                  </a:moveTo>
                  <a:lnTo>
                    <a:pt x="780288" y="0"/>
                  </a:lnTo>
                  <a:lnTo>
                    <a:pt x="7802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02360" r="-102360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0"/>
              <a:ext cx="7802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Sr.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65127" y="1560071"/>
            <a:ext cx="3463547" cy="720347"/>
            <a:chOff x="0" y="0"/>
            <a:chExt cx="4618063" cy="960463"/>
          </a:xfrm>
        </p:grpSpPr>
        <p:sp>
          <p:nvSpPr>
            <p:cNvPr id="18" name="Freeform 18"/>
            <p:cNvSpPr/>
            <p:nvPr/>
          </p:nvSpPr>
          <p:spPr>
            <a:xfrm>
              <a:off x="16891" y="16891"/>
              <a:ext cx="4584192" cy="926592"/>
            </a:xfrm>
            <a:custGeom>
              <a:avLst/>
              <a:gdLst/>
              <a:ahLst/>
              <a:cxnLst/>
              <a:rect l="l" t="t" r="r" b="b"/>
              <a:pathLst>
                <a:path w="4584192" h="926592">
                  <a:moveTo>
                    <a:pt x="0" y="0"/>
                  </a:moveTo>
                  <a:lnTo>
                    <a:pt x="4584192" y="0"/>
                  </a:lnTo>
                  <a:lnTo>
                    <a:pt x="458419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0" y="0"/>
              <a:ext cx="4617974" cy="960376"/>
            </a:xfrm>
            <a:custGeom>
              <a:avLst/>
              <a:gdLst/>
              <a:ahLst/>
              <a:cxnLst/>
              <a:rect l="l" t="t" r="r" b="b"/>
              <a:pathLst>
                <a:path w="4617974" h="960376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943483"/>
                  </a:lnTo>
                  <a:cubicBezTo>
                    <a:pt x="4617974" y="952881"/>
                    <a:pt x="4610354" y="960374"/>
                    <a:pt x="460108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601083" y="926592"/>
                  </a:lnTo>
                  <a:lnTo>
                    <a:pt x="4601083" y="943483"/>
                  </a:lnTo>
                  <a:lnTo>
                    <a:pt x="4584192" y="943483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0" name="Group 20"/>
          <p:cNvGrpSpPr/>
          <p:nvPr/>
        </p:nvGrpSpPr>
        <p:grpSpPr>
          <a:xfrm>
            <a:off x="932688" y="1572768"/>
            <a:ext cx="3328416" cy="694944"/>
            <a:chOff x="0" y="0"/>
            <a:chExt cx="4437888" cy="926592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4437888" cy="926592"/>
            </a:xfrm>
            <a:custGeom>
              <a:avLst/>
              <a:gdLst/>
              <a:ahLst/>
              <a:cxnLst/>
              <a:rect l="l" t="t" r="r" b="b"/>
              <a:pathLst>
                <a:path w="4437888" h="926592">
                  <a:moveTo>
                    <a:pt x="0" y="0"/>
                  </a:moveTo>
                  <a:lnTo>
                    <a:pt x="4437888" y="0"/>
                  </a:lnTo>
                  <a:lnTo>
                    <a:pt x="443788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3323" b="-43323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443788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Paper Title &amp;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Author(s)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4303271" y="1560071"/>
            <a:ext cx="3719579" cy="720347"/>
            <a:chOff x="0" y="0"/>
            <a:chExt cx="4959439" cy="960463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4925568" cy="926592"/>
            </a:xfrm>
            <a:custGeom>
              <a:avLst/>
              <a:gdLst/>
              <a:ahLst/>
              <a:cxnLst/>
              <a:rect l="l" t="t" r="r" b="b"/>
              <a:pathLst>
                <a:path w="4925568" h="926592">
                  <a:moveTo>
                    <a:pt x="0" y="0"/>
                  </a:moveTo>
                  <a:lnTo>
                    <a:pt x="4925568" y="0"/>
                  </a:lnTo>
                  <a:lnTo>
                    <a:pt x="4925568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4959350" cy="960376"/>
            </a:xfrm>
            <a:custGeom>
              <a:avLst/>
              <a:gdLst/>
              <a:ahLst/>
              <a:cxnLst/>
              <a:rect l="l" t="t" r="r" b="b"/>
              <a:pathLst>
                <a:path w="4959350" h="960376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943483"/>
                  </a:lnTo>
                  <a:cubicBezTo>
                    <a:pt x="4959350" y="952881"/>
                    <a:pt x="4951730" y="960374"/>
                    <a:pt x="4942459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942459" y="926592"/>
                  </a:lnTo>
                  <a:lnTo>
                    <a:pt x="4942459" y="943483"/>
                  </a:lnTo>
                  <a:lnTo>
                    <a:pt x="4925568" y="943483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4370832" y="1572768"/>
            <a:ext cx="3584448" cy="694944"/>
            <a:chOff x="0" y="0"/>
            <a:chExt cx="4779264" cy="926592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0501" b="-50501"/>
              </a:stretch>
            </a:blipFill>
          </p:spPr>
        </p:sp>
        <p:sp>
          <p:nvSpPr>
            <p:cNvPr id="28" name="TextBox 28"/>
            <p:cNvSpPr txBox="1"/>
            <p:nvPr/>
          </p:nvSpPr>
          <p:spPr>
            <a:xfrm>
              <a:off x="0" y="0"/>
              <a:ext cx="4779264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Addressed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7997447" y="1560071"/>
            <a:ext cx="3683003" cy="720347"/>
            <a:chOff x="0" y="0"/>
            <a:chExt cx="4910671" cy="960463"/>
          </a:xfrm>
        </p:grpSpPr>
        <p:sp>
          <p:nvSpPr>
            <p:cNvPr id="30" name="Freeform 30"/>
            <p:cNvSpPr/>
            <p:nvPr/>
          </p:nvSpPr>
          <p:spPr>
            <a:xfrm>
              <a:off x="16891" y="16891"/>
              <a:ext cx="4876800" cy="926592"/>
            </a:xfrm>
            <a:custGeom>
              <a:avLst/>
              <a:gdLst/>
              <a:ahLst/>
              <a:cxnLst/>
              <a:rect l="l" t="t" r="r" b="b"/>
              <a:pathLst>
                <a:path w="4876800" h="926592">
                  <a:moveTo>
                    <a:pt x="0" y="0"/>
                  </a:moveTo>
                  <a:lnTo>
                    <a:pt x="4876800" y="0"/>
                  </a:lnTo>
                  <a:lnTo>
                    <a:pt x="487680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1" name="Freeform 31"/>
            <p:cNvSpPr/>
            <p:nvPr/>
          </p:nvSpPr>
          <p:spPr>
            <a:xfrm>
              <a:off x="0" y="0"/>
              <a:ext cx="4910582" cy="960376"/>
            </a:xfrm>
            <a:custGeom>
              <a:avLst/>
              <a:gdLst/>
              <a:ahLst/>
              <a:cxnLst/>
              <a:rect l="l" t="t" r="r" b="b"/>
              <a:pathLst>
                <a:path w="4910582" h="960376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943483"/>
                  </a:lnTo>
                  <a:cubicBezTo>
                    <a:pt x="4910582" y="952881"/>
                    <a:pt x="4902962" y="960374"/>
                    <a:pt x="489369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893691" y="926592"/>
                  </a:lnTo>
                  <a:lnTo>
                    <a:pt x="4893691" y="943483"/>
                  </a:lnTo>
                  <a:lnTo>
                    <a:pt x="4876800" y="943483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2" name="Group 32"/>
          <p:cNvGrpSpPr/>
          <p:nvPr/>
        </p:nvGrpSpPr>
        <p:grpSpPr>
          <a:xfrm>
            <a:off x="8065008" y="1572768"/>
            <a:ext cx="3547872" cy="694944"/>
            <a:chOff x="0" y="0"/>
            <a:chExt cx="4730496" cy="926592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730496" cy="926592"/>
            </a:xfrm>
            <a:custGeom>
              <a:avLst/>
              <a:gdLst/>
              <a:ahLst/>
              <a:cxnLst/>
              <a:rect l="l" t="t" r="r" b="b"/>
              <a:pathLst>
                <a:path w="4730496" h="926592">
                  <a:moveTo>
                    <a:pt x="0" y="0"/>
                  </a:moveTo>
                  <a:lnTo>
                    <a:pt x="4730496" y="0"/>
                  </a:lnTo>
                  <a:lnTo>
                    <a:pt x="4730496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9476" b="-4947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4730496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Methodology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11655047" y="1560071"/>
            <a:ext cx="3609851" cy="720347"/>
            <a:chOff x="0" y="0"/>
            <a:chExt cx="4813135" cy="960463"/>
          </a:xfrm>
        </p:grpSpPr>
        <p:sp>
          <p:nvSpPr>
            <p:cNvPr id="36" name="Freeform 36"/>
            <p:cNvSpPr/>
            <p:nvPr/>
          </p:nvSpPr>
          <p:spPr>
            <a:xfrm>
              <a:off x="16891" y="16891"/>
              <a:ext cx="4779264" cy="926592"/>
            </a:xfrm>
            <a:custGeom>
              <a:avLst/>
              <a:gdLst/>
              <a:ahLst/>
              <a:cxnLst/>
              <a:rect l="l" t="t" r="r" b="b"/>
              <a:pathLst>
                <a:path w="4779264" h="926592">
                  <a:moveTo>
                    <a:pt x="0" y="0"/>
                  </a:moveTo>
                  <a:lnTo>
                    <a:pt x="4779264" y="0"/>
                  </a:lnTo>
                  <a:lnTo>
                    <a:pt x="4779264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7" name="Freeform 37"/>
            <p:cNvSpPr/>
            <p:nvPr/>
          </p:nvSpPr>
          <p:spPr>
            <a:xfrm>
              <a:off x="0" y="0"/>
              <a:ext cx="4813046" cy="960376"/>
            </a:xfrm>
            <a:custGeom>
              <a:avLst/>
              <a:gdLst/>
              <a:ahLst/>
              <a:cxnLst/>
              <a:rect l="l" t="t" r="r" b="b"/>
              <a:pathLst>
                <a:path w="4813046" h="960376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943483"/>
                  </a:lnTo>
                  <a:cubicBezTo>
                    <a:pt x="4813046" y="952881"/>
                    <a:pt x="4805426" y="960374"/>
                    <a:pt x="4796155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4796155" y="926592"/>
                  </a:lnTo>
                  <a:lnTo>
                    <a:pt x="4796155" y="943483"/>
                  </a:lnTo>
                  <a:lnTo>
                    <a:pt x="4779264" y="943483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38" name="Group 38"/>
          <p:cNvGrpSpPr/>
          <p:nvPr/>
        </p:nvGrpSpPr>
        <p:grpSpPr>
          <a:xfrm>
            <a:off x="11722608" y="1572768"/>
            <a:ext cx="3474720" cy="694944"/>
            <a:chOff x="0" y="0"/>
            <a:chExt cx="4632960" cy="926592"/>
          </a:xfrm>
        </p:grpSpPr>
        <p:sp>
          <p:nvSpPr>
            <p:cNvPr id="39" name="Freeform 39"/>
            <p:cNvSpPr/>
            <p:nvPr/>
          </p:nvSpPr>
          <p:spPr>
            <a:xfrm>
              <a:off x="0" y="0"/>
              <a:ext cx="4632960" cy="926592"/>
            </a:xfrm>
            <a:custGeom>
              <a:avLst/>
              <a:gdLst/>
              <a:ahLst/>
              <a:cxnLst/>
              <a:rect l="l" t="t" r="r" b="b"/>
              <a:pathLst>
                <a:path w="4632960" h="926592">
                  <a:moveTo>
                    <a:pt x="0" y="0"/>
                  </a:moveTo>
                  <a:lnTo>
                    <a:pt x="4632960" y="0"/>
                  </a:lnTo>
                  <a:lnTo>
                    <a:pt x="463296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425" b="-47425"/>
              </a:stretch>
            </a:blipFill>
          </p:spPr>
        </p:sp>
        <p:sp>
          <p:nvSpPr>
            <p:cNvPr id="40" name="TextBox 40"/>
            <p:cNvSpPr txBox="1"/>
            <p:nvPr/>
          </p:nvSpPr>
          <p:spPr>
            <a:xfrm>
              <a:off x="0" y="0"/>
              <a:ext cx="4632960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Key Findings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15239495" y="1560071"/>
            <a:ext cx="2914907" cy="720347"/>
            <a:chOff x="0" y="0"/>
            <a:chExt cx="3886543" cy="960463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3852672" cy="926592"/>
            </a:xfrm>
            <a:custGeom>
              <a:avLst/>
              <a:gdLst/>
              <a:ahLst/>
              <a:cxnLst/>
              <a:rect l="l" t="t" r="r" b="b"/>
              <a:pathLst>
                <a:path w="3852672" h="926592">
                  <a:moveTo>
                    <a:pt x="0" y="0"/>
                  </a:moveTo>
                  <a:lnTo>
                    <a:pt x="3852672" y="0"/>
                  </a:lnTo>
                  <a:lnTo>
                    <a:pt x="3852672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3886454" cy="960376"/>
            </a:xfrm>
            <a:custGeom>
              <a:avLst/>
              <a:gdLst/>
              <a:ahLst/>
              <a:cxnLst/>
              <a:rect l="l" t="t" r="r" b="b"/>
              <a:pathLst>
                <a:path w="3886454" h="960376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943483"/>
                  </a:lnTo>
                  <a:cubicBezTo>
                    <a:pt x="3886454" y="952881"/>
                    <a:pt x="3878834" y="960374"/>
                    <a:pt x="3869563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3869563" y="926592"/>
                  </a:lnTo>
                  <a:lnTo>
                    <a:pt x="3869563" y="943483"/>
                  </a:lnTo>
                  <a:lnTo>
                    <a:pt x="3852672" y="943483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5307056" y="1572768"/>
            <a:ext cx="2779776" cy="694944"/>
            <a:chOff x="0" y="0"/>
            <a:chExt cx="3706368" cy="926592"/>
          </a:xfrm>
        </p:grpSpPr>
        <p:sp>
          <p:nvSpPr>
            <p:cNvPr id="45" name="Freeform 45"/>
            <p:cNvSpPr/>
            <p:nvPr/>
          </p:nvSpPr>
          <p:spPr>
            <a:xfrm>
              <a:off x="0" y="0"/>
              <a:ext cx="3706368" cy="926592"/>
            </a:xfrm>
            <a:custGeom>
              <a:avLst/>
              <a:gdLst/>
              <a:ahLst/>
              <a:cxnLst/>
              <a:rect l="l" t="t" r="r" b="b"/>
              <a:pathLst>
                <a:path w="3706368" h="926592">
                  <a:moveTo>
                    <a:pt x="0" y="0"/>
                  </a:moveTo>
                  <a:lnTo>
                    <a:pt x="3706368" y="0"/>
                  </a:lnTo>
                  <a:lnTo>
                    <a:pt x="3706368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940" b="-27940"/>
              </a:stretch>
            </a:blipFill>
          </p:spPr>
        </p:sp>
        <p:sp>
          <p:nvSpPr>
            <p:cNvPr id="46" name="TextBox 46"/>
            <p:cNvSpPr txBox="1"/>
            <p:nvPr/>
          </p:nvSpPr>
          <p:spPr>
            <a:xfrm>
              <a:off x="0" y="0"/>
              <a:ext cx="3706368" cy="9265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Research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 b="1">
                  <a:solidFill>
                    <a:srgbClr val="E8A02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Gap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170183" y="2291591"/>
            <a:ext cx="720347" cy="1854203"/>
            <a:chOff x="0" y="0"/>
            <a:chExt cx="960463" cy="2472271"/>
          </a:xfrm>
        </p:grpSpPr>
        <p:sp>
          <p:nvSpPr>
            <p:cNvPr id="48" name="Freeform 48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49" name="Freeform 49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50" name="TextBox 50"/>
          <p:cNvSpPr txBox="1"/>
          <p:nvPr/>
        </p:nvSpPr>
        <p:spPr>
          <a:xfrm>
            <a:off x="256032" y="2367915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13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865127" y="2291591"/>
            <a:ext cx="3463547" cy="1854203"/>
            <a:chOff x="0" y="0"/>
            <a:chExt cx="4618063" cy="2472271"/>
          </a:xfrm>
        </p:grpSpPr>
        <p:sp>
          <p:nvSpPr>
            <p:cNvPr id="52" name="Freeform 52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54" name="TextBox 54"/>
          <p:cNvSpPr txBox="1"/>
          <p:nvPr/>
        </p:nvSpPr>
        <p:spPr>
          <a:xfrm>
            <a:off x="950976" y="2367915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Deep Learning Log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Anomaly (ScienceDirect)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4303271" y="2291591"/>
            <a:ext cx="3719579" cy="1854203"/>
            <a:chOff x="0" y="0"/>
            <a:chExt cx="4959439" cy="2472271"/>
          </a:xfrm>
        </p:grpSpPr>
        <p:sp>
          <p:nvSpPr>
            <p:cNvPr id="56" name="Freeform 56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7" name="Freeform 57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58" name="TextBox 58"/>
          <p:cNvSpPr txBox="1"/>
          <p:nvPr/>
        </p:nvSpPr>
        <p:spPr>
          <a:xfrm>
            <a:off x="4389120" y="2367915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Semantic anomaly detection gap in log analysis</a:t>
            </a:r>
          </a:p>
        </p:txBody>
      </p:sp>
      <p:grpSp>
        <p:nvGrpSpPr>
          <p:cNvPr id="59" name="Group 59"/>
          <p:cNvGrpSpPr/>
          <p:nvPr/>
        </p:nvGrpSpPr>
        <p:grpSpPr>
          <a:xfrm>
            <a:off x="7997447" y="2291591"/>
            <a:ext cx="3683003" cy="1854203"/>
            <a:chOff x="0" y="0"/>
            <a:chExt cx="4910671" cy="2472271"/>
          </a:xfrm>
        </p:grpSpPr>
        <p:sp>
          <p:nvSpPr>
            <p:cNvPr id="60" name="Freeform 60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1" name="Freeform 61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2" name="TextBox 62"/>
          <p:cNvSpPr txBox="1"/>
          <p:nvPr/>
        </p:nvSpPr>
        <p:spPr>
          <a:xfrm>
            <a:off x="8083296" y="2367915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LSTM and Transformer applied to log event sequences</a:t>
            </a:r>
          </a:p>
        </p:txBody>
      </p:sp>
      <p:grpSp>
        <p:nvGrpSpPr>
          <p:cNvPr id="63" name="Group 63"/>
          <p:cNvGrpSpPr/>
          <p:nvPr/>
        </p:nvGrpSpPr>
        <p:grpSpPr>
          <a:xfrm>
            <a:off x="11655047" y="2291591"/>
            <a:ext cx="3609851" cy="1854203"/>
            <a:chOff x="0" y="0"/>
            <a:chExt cx="4813135" cy="2472271"/>
          </a:xfrm>
        </p:grpSpPr>
        <p:sp>
          <p:nvSpPr>
            <p:cNvPr id="64" name="Freeform 64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5" name="Freeform 65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66" name="TextBox 66"/>
          <p:cNvSpPr txBox="1"/>
          <p:nvPr/>
        </p:nvSpPr>
        <p:spPr>
          <a:xfrm>
            <a:off x="11740896" y="2367915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High precision anomaly detection in structured log environments</a:t>
            </a:r>
          </a:p>
        </p:txBody>
      </p:sp>
      <p:grpSp>
        <p:nvGrpSpPr>
          <p:cNvPr id="67" name="Group 67"/>
          <p:cNvGrpSpPr/>
          <p:nvPr/>
        </p:nvGrpSpPr>
        <p:grpSpPr>
          <a:xfrm>
            <a:off x="15239495" y="2291591"/>
            <a:ext cx="2914907" cy="1854203"/>
            <a:chOff x="0" y="0"/>
            <a:chExt cx="3886543" cy="2472271"/>
          </a:xfrm>
        </p:grpSpPr>
        <p:sp>
          <p:nvSpPr>
            <p:cNvPr id="68" name="Freeform 68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9" name="Freeform 69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0" name="TextBox 70"/>
          <p:cNvSpPr txBox="1"/>
          <p:nvPr/>
        </p:nvSpPr>
        <p:spPr>
          <a:xfrm>
            <a:off x="15325344" y="2367915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Requires large labelled log datasets for supervised training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170183" y="4175255"/>
            <a:ext cx="720347" cy="1854203"/>
            <a:chOff x="0" y="0"/>
            <a:chExt cx="960463" cy="2472271"/>
          </a:xfrm>
        </p:grpSpPr>
        <p:sp>
          <p:nvSpPr>
            <p:cNvPr id="72" name="Freeform 72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73" name="Freeform 73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4" name="TextBox 74"/>
          <p:cNvSpPr txBox="1"/>
          <p:nvPr/>
        </p:nvSpPr>
        <p:spPr>
          <a:xfrm>
            <a:off x="256032" y="4251579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14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865127" y="4175255"/>
            <a:ext cx="3463547" cy="1854203"/>
            <a:chOff x="0" y="0"/>
            <a:chExt cx="4618063" cy="2472271"/>
          </a:xfrm>
        </p:grpSpPr>
        <p:sp>
          <p:nvSpPr>
            <p:cNvPr id="76" name="Freeform 76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77" name="Freeform 77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78" name="TextBox 78"/>
          <p:cNvSpPr txBox="1"/>
          <p:nvPr/>
        </p:nvSpPr>
        <p:spPr>
          <a:xfrm>
            <a:off x="950976" y="4251579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LogCEM Semantic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Anomaly (CMC, 2025)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4303271" y="4175255"/>
            <a:ext cx="3719579" cy="1854203"/>
            <a:chOff x="0" y="0"/>
            <a:chExt cx="4959439" cy="2472271"/>
          </a:xfrm>
        </p:grpSpPr>
        <p:sp>
          <p:nvSpPr>
            <p:cNvPr id="80" name="Freeform 80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1" name="Freeform 81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2" name="TextBox 82"/>
          <p:cNvSpPr txBox="1"/>
          <p:nvPr/>
        </p:nvSpPr>
        <p:spPr>
          <a:xfrm>
            <a:off x="4389120" y="4251579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Semantic gap between log templates and actual events</a:t>
            </a:r>
          </a:p>
        </p:txBody>
      </p:sp>
      <p:grpSp>
        <p:nvGrpSpPr>
          <p:cNvPr id="83" name="Group 83"/>
          <p:cNvGrpSpPr/>
          <p:nvPr/>
        </p:nvGrpSpPr>
        <p:grpSpPr>
          <a:xfrm>
            <a:off x="7997447" y="4175255"/>
            <a:ext cx="3683003" cy="1854203"/>
            <a:chOff x="0" y="0"/>
            <a:chExt cx="4910671" cy="2472271"/>
          </a:xfrm>
        </p:grpSpPr>
        <p:sp>
          <p:nvSpPr>
            <p:cNvPr id="84" name="Freeform 84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5" name="Freeform 85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86" name="TextBox 86"/>
          <p:cNvSpPr txBox="1"/>
          <p:nvPr/>
        </p:nvSpPr>
        <p:spPr>
          <a:xfrm>
            <a:off x="8083296" y="4251579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NLP embeddings + clustering (LogCEM framework)</a:t>
            </a:r>
          </a:p>
        </p:txBody>
      </p:sp>
      <p:grpSp>
        <p:nvGrpSpPr>
          <p:cNvPr id="87" name="Group 87"/>
          <p:cNvGrpSpPr/>
          <p:nvPr/>
        </p:nvGrpSpPr>
        <p:grpSpPr>
          <a:xfrm>
            <a:off x="11655047" y="4175255"/>
            <a:ext cx="3609851" cy="1854203"/>
            <a:chOff x="0" y="0"/>
            <a:chExt cx="4813135" cy="2472271"/>
          </a:xfrm>
        </p:grpSpPr>
        <p:sp>
          <p:nvSpPr>
            <p:cNvPr id="88" name="Freeform 88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89" name="Freeform 89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0" name="TextBox 90"/>
          <p:cNvSpPr txBox="1"/>
          <p:nvPr/>
        </p:nvSpPr>
        <p:spPr>
          <a:xfrm>
            <a:off x="11740896" y="4251579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Improved log grouping; better anomaly recall vs. baselines</a:t>
            </a:r>
          </a:p>
        </p:txBody>
      </p:sp>
      <p:grpSp>
        <p:nvGrpSpPr>
          <p:cNvPr id="91" name="Group 91"/>
          <p:cNvGrpSpPr/>
          <p:nvPr/>
        </p:nvGrpSpPr>
        <p:grpSpPr>
          <a:xfrm>
            <a:off x="15239495" y="4175255"/>
            <a:ext cx="2914907" cy="1854203"/>
            <a:chOff x="0" y="0"/>
            <a:chExt cx="3886543" cy="2472271"/>
          </a:xfrm>
        </p:grpSpPr>
        <p:sp>
          <p:nvSpPr>
            <p:cNvPr id="92" name="Freeform 92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3D1A00"/>
            </a:solidFill>
          </p:spPr>
        </p:sp>
        <p:sp>
          <p:nvSpPr>
            <p:cNvPr id="93" name="Freeform 93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4" name="TextBox 94"/>
          <p:cNvSpPr txBox="1"/>
          <p:nvPr/>
        </p:nvSpPr>
        <p:spPr>
          <a:xfrm>
            <a:off x="15325344" y="4251579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High compute requirement; slow on edge systems</a:t>
            </a:r>
          </a:p>
        </p:txBody>
      </p:sp>
      <p:grpSp>
        <p:nvGrpSpPr>
          <p:cNvPr id="95" name="Group 95"/>
          <p:cNvGrpSpPr/>
          <p:nvPr/>
        </p:nvGrpSpPr>
        <p:grpSpPr>
          <a:xfrm>
            <a:off x="170183" y="6058919"/>
            <a:ext cx="720347" cy="1854203"/>
            <a:chOff x="0" y="0"/>
            <a:chExt cx="960463" cy="2472271"/>
          </a:xfrm>
        </p:grpSpPr>
        <p:sp>
          <p:nvSpPr>
            <p:cNvPr id="96" name="Freeform 96"/>
            <p:cNvSpPr/>
            <p:nvPr/>
          </p:nvSpPr>
          <p:spPr>
            <a:xfrm>
              <a:off x="16891" y="16891"/>
              <a:ext cx="926592" cy="2438400"/>
            </a:xfrm>
            <a:custGeom>
              <a:avLst/>
              <a:gdLst/>
              <a:ahLst/>
              <a:cxnLst/>
              <a:rect l="l" t="t" r="r" b="b"/>
              <a:pathLst>
                <a:path w="926592" h="2438400">
                  <a:moveTo>
                    <a:pt x="0" y="0"/>
                  </a:moveTo>
                  <a:lnTo>
                    <a:pt x="926592" y="0"/>
                  </a:lnTo>
                  <a:lnTo>
                    <a:pt x="9265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97" name="Freeform 97"/>
            <p:cNvSpPr/>
            <p:nvPr/>
          </p:nvSpPr>
          <p:spPr>
            <a:xfrm>
              <a:off x="0" y="0"/>
              <a:ext cx="960374" cy="2472182"/>
            </a:xfrm>
            <a:custGeom>
              <a:avLst/>
              <a:gdLst/>
              <a:ahLst/>
              <a:cxnLst/>
              <a:rect l="l" t="t" r="r" b="b"/>
              <a:pathLst>
                <a:path w="960374" h="2472182">
                  <a:moveTo>
                    <a:pt x="16891" y="0"/>
                  </a:moveTo>
                  <a:lnTo>
                    <a:pt x="943483" y="0"/>
                  </a:lnTo>
                  <a:cubicBezTo>
                    <a:pt x="952881" y="0"/>
                    <a:pt x="960374" y="7620"/>
                    <a:pt x="960374" y="16891"/>
                  </a:cubicBezTo>
                  <a:lnTo>
                    <a:pt x="960374" y="2455291"/>
                  </a:lnTo>
                  <a:cubicBezTo>
                    <a:pt x="960374" y="2464689"/>
                    <a:pt x="952754" y="2472182"/>
                    <a:pt x="9434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943483" y="2438400"/>
                  </a:lnTo>
                  <a:lnTo>
                    <a:pt x="943483" y="2455291"/>
                  </a:lnTo>
                  <a:lnTo>
                    <a:pt x="926592" y="2455291"/>
                  </a:lnTo>
                  <a:lnTo>
                    <a:pt x="926592" y="16891"/>
                  </a:lnTo>
                  <a:lnTo>
                    <a:pt x="943483" y="16891"/>
                  </a:lnTo>
                  <a:lnTo>
                    <a:pt x="9434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98" name="TextBox 98"/>
          <p:cNvSpPr txBox="1"/>
          <p:nvPr/>
        </p:nvSpPr>
        <p:spPr>
          <a:xfrm>
            <a:off x="256032" y="6135243"/>
            <a:ext cx="5486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15</a:t>
            </a:r>
          </a:p>
        </p:txBody>
      </p:sp>
      <p:grpSp>
        <p:nvGrpSpPr>
          <p:cNvPr id="99" name="Group 99"/>
          <p:cNvGrpSpPr/>
          <p:nvPr/>
        </p:nvGrpSpPr>
        <p:grpSpPr>
          <a:xfrm>
            <a:off x="865127" y="6058919"/>
            <a:ext cx="3463547" cy="1854203"/>
            <a:chOff x="0" y="0"/>
            <a:chExt cx="4618063" cy="2472271"/>
          </a:xfrm>
        </p:grpSpPr>
        <p:sp>
          <p:nvSpPr>
            <p:cNvPr id="100" name="Freeform 100"/>
            <p:cNvSpPr/>
            <p:nvPr/>
          </p:nvSpPr>
          <p:spPr>
            <a:xfrm>
              <a:off x="16891" y="16891"/>
              <a:ext cx="4584192" cy="2438400"/>
            </a:xfrm>
            <a:custGeom>
              <a:avLst/>
              <a:gdLst/>
              <a:ahLst/>
              <a:cxnLst/>
              <a:rect l="l" t="t" r="r" b="b"/>
              <a:pathLst>
                <a:path w="4584192" h="2438400">
                  <a:moveTo>
                    <a:pt x="0" y="0"/>
                  </a:moveTo>
                  <a:lnTo>
                    <a:pt x="4584192" y="0"/>
                  </a:lnTo>
                  <a:lnTo>
                    <a:pt x="458419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1" name="Freeform 101"/>
            <p:cNvSpPr/>
            <p:nvPr/>
          </p:nvSpPr>
          <p:spPr>
            <a:xfrm>
              <a:off x="0" y="0"/>
              <a:ext cx="4617974" cy="2472182"/>
            </a:xfrm>
            <a:custGeom>
              <a:avLst/>
              <a:gdLst/>
              <a:ahLst/>
              <a:cxnLst/>
              <a:rect l="l" t="t" r="r" b="b"/>
              <a:pathLst>
                <a:path w="4617974" h="2472182">
                  <a:moveTo>
                    <a:pt x="16891" y="0"/>
                  </a:moveTo>
                  <a:lnTo>
                    <a:pt x="4601083" y="0"/>
                  </a:lnTo>
                  <a:cubicBezTo>
                    <a:pt x="4610481" y="0"/>
                    <a:pt x="4617974" y="7620"/>
                    <a:pt x="4617974" y="16891"/>
                  </a:cubicBezTo>
                  <a:lnTo>
                    <a:pt x="4617974" y="2455291"/>
                  </a:lnTo>
                  <a:cubicBezTo>
                    <a:pt x="4617974" y="2464689"/>
                    <a:pt x="4610354" y="2472182"/>
                    <a:pt x="460108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601083" y="2438400"/>
                  </a:lnTo>
                  <a:lnTo>
                    <a:pt x="4601083" y="2455291"/>
                  </a:lnTo>
                  <a:lnTo>
                    <a:pt x="4584192" y="2455291"/>
                  </a:lnTo>
                  <a:lnTo>
                    <a:pt x="4584192" y="16891"/>
                  </a:lnTo>
                  <a:lnTo>
                    <a:pt x="4601083" y="16891"/>
                  </a:lnTo>
                  <a:lnTo>
                    <a:pt x="460108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2" name="TextBox 102"/>
          <p:cNvSpPr txBox="1"/>
          <p:nvPr/>
        </p:nvSpPr>
        <p:spPr>
          <a:xfrm>
            <a:off x="950976" y="6135243"/>
            <a:ext cx="329184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GenAI in Cybersecurity</a:t>
            </a:r>
          </a:p>
          <a:p>
            <a:pPr algn="l">
              <a:lnSpc>
                <a:spcPts val="2039"/>
              </a:lnSpc>
            </a:pPr>
            <a:r>
              <a:rPr lang="en-US" sz="1700" b="1">
                <a:solidFill>
                  <a:srgbClr val="F5E6CC"/>
                </a:solidFill>
                <a:latin typeface="Georgia Bold"/>
                <a:ea typeface="Georgia Bold"/>
                <a:cs typeface="Georgia Bold"/>
                <a:sym typeface="Georgia Bold"/>
              </a:rPr>
              <a:t>(ScienceDirect, 2025)</a:t>
            </a:r>
          </a:p>
        </p:txBody>
      </p:sp>
      <p:grpSp>
        <p:nvGrpSpPr>
          <p:cNvPr id="103" name="Group 103"/>
          <p:cNvGrpSpPr/>
          <p:nvPr/>
        </p:nvGrpSpPr>
        <p:grpSpPr>
          <a:xfrm>
            <a:off x="4303271" y="6058919"/>
            <a:ext cx="3719579" cy="1854203"/>
            <a:chOff x="0" y="0"/>
            <a:chExt cx="4959439" cy="2472271"/>
          </a:xfrm>
        </p:grpSpPr>
        <p:sp>
          <p:nvSpPr>
            <p:cNvPr id="104" name="Freeform 104"/>
            <p:cNvSpPr/>
            <p:nvPr/>
          </p:nvSpPr>
          <p:spPr>
            <a:xfrm>
              <a:off x="16891" y="16891"/>
              <a:ext cx="4925568" cy="2438400"/>
            </a:xfrm>
            <a:custGeom>
              <a:avLst/>
              <a:gdLst/>
              <a:ahLst/>
              <a:cxnLst/>
              <a:rect l="l" t="t" r="r" b="b"/>
              <a:pathLst>
                <a:path w="4925568" h="2438400">
                  <a:moveTo>
                    <a:pt x="0" y="0"/>
                  </a:moveTo>
                  <a:lnTo>
                    <a:pt x="4925568" y="0"/>
                  </a:lnTo>
                  <a:lnTo>
                    <a:pt x="4925568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5" name="Freeform 105"/>
            <p:cNvSpPr/>
            <p:nvPr/>
          </p:nvSpPr>
          <p:spPr>
            <a:xfrm>
              <a:off x="0" y="0"/>
              <a:ext cx="4959350" cy="2472182"/>
            </a:xfrm>
            <a:custGeom>
              <a:avLst/>
              <a:gdLst/>
              <a:ahLst/>
              <a:cxnLst/>
              <a:rect l="l" t="t" r="r" b="b"/>
              <a:pathLst>
                <a:path w="4959350" h="2472182">
                  <a:moveTo>
                    <a:pt x="16891" y="0"/>
                  </a:moveTo>
                  <a:lnTo>
                    <a:pt x="4942459" y="0"/>
                  </a:lnTo>
                  <a:cubicBezTo>
                    <a:pt x="4951857" y="0"/>
                    <a:pt x="4959350" y="7620"/>
                    <a:pt x="4959350" y="16891"/>
                  </a:cubicBezTo>
                  <a:lnTo>
                    <a:pt x="4959350" y="2455291"/>
                  </a:lnTo>
                  <a:cubicBezTo>
                    <a:pt x="4959350" y="2464689"/>
                    <a:pt x="4951730" y="2472182"/>
                    <a:pt x="4942459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942459" y="2438400"/>
                  </a:lnTo>
                  <a:lnTo>
                    <a:pt x="4942459" y="2455291"/>
                  </a:lnTo>
                  <a:lnTo>
                    <a:pt x="4925568" y="2455291"/>
                  </a:lnTo>
                  <a:lnTo>
                    <a:pt x="4925568" y="16891"/>
                  </a:lnTo>
                  <a:lnTo>
                    <a:pt x="4942459" y="16891"/>
                  </a:lnTo>
                  <a:lnTo>
                    <a:pt x="494245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06" name="TextBox 106"/>
          <p:cNvSpPr txBox="1"/>
          <p:nvPr/>
        </p:nvSpPr>
        <p:spPr>
          <a:xfrm>
            <a:off x="4389120" y="6135243"/>
            <a:ext cx="3547872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Broad GenAI applicability in security underexplored</a:t>
            </a:r>
          </a:p>
        </p:txBody>
      </p:sp>
      <p:grpSp>
        <p:nvGrpSpPr>
          <p:cNvPr id="107" name="Group 107"/>
          <p:cNvGrpSpPr/>
          <p:nvPr/>
        </p:nvGrpSpPr>
        <p:grpSpPr>
          <a:xfrm>
            <a:off x="7997447" y="6058919"/>
            <a:ext cx="3683003" cy="1854203"/>
            <a:chOff x="0" y="0"/>
            <a:chExt cx="4910671" cy="2472271"/>
          </a:xfrm>
        </p:grpSpPr>
        <p:sp>
          <p:nvSpPr>
            <p:cNvPr id="108" name="Freeform 108"/>
            <p:cNvSpPr/>
            <p:nvPr/>
          </p:nvSpPr>
          <p:spPr>
            <a:xfrm>
              <a:off x="16891" y="16891"/>
              <a:ext cx="4876800" cy="2438400"/>
            </a:xfrm>
            <a:custGeom>
              <a:avLst/>
              <a:gdLst/>
              <a:ahLst/>
              <a:cxnLst/>
              <a:rect l="l" t="t" r="r" b="b"/>
              <a:pathLst>
                <a:path w="4876800" h="2438400">
                  <a:moveTo>
                    <a:pt x="0" y="0"/>
                  </a:moveTo>
                  <a:lnTo>
                    <a:pt x="4876800" y="0"/>
                  </a:lnTo>
                  <a:lnTo>
                    <a:pt x="4876800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09" name="Freeform 109"/>
            <p:cNvSpPr/>
            <p:nvPr/>
          </p:nvSpPr>
          <p:spPr>
            <a:xfrm>
              <a:off x="0" y="0"/>
              <a:ext cx="4910582" cy="2472182"/>
            </a:xfrm>
            <a:custGeom>
              <a:avLst/>
              <a:gdLst/>
              <a:ahLst/>
              <a:cxnLst/>
              <a:rect l="l" t="t" r="r" b="b"/>
              <a:pathLst>
                <a:path w="4910582" h="2472182">
                  <a:moveTo>
                    <a:pt x="16891" y="0"/>
                  </a:moveTo>
                  <a:lnTo>
                    <a:pt x="4893691" y="0"/>
                  </a:lnTo>
                  <a:cubicBezTo>
                    <a:pt x="4903089" y="0"/>
                    <a:pt x="4910582" y="7620"/>
                    <a:pt x="4910582" y="16891"/>
                  </a:cubicBezTo>
                  <a:lnTo>
                    <a:pt x="4910582" y="2455291"/>
                  </a:lnTo>
                  <a:cubicBezTo>
                    <a:pt x="4910582" y="2464689"/>
                    <a:pt x="4902962" y="2472182"/>
                    <a:pt x="4893691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893691" y="2438400"/>
                  </a:lnTo>
                  <a:lnTo>
                    <a:pt x="4893691" y="2455291"/>
                  </a:lnTo>
                  <a:lnTo>
                    <a:pt x="4876800" y="2455291"/>
                  </a:lnTo>
                  <a:lnTo>
                    <a:pt x="4876800" y="16891"/>
                  </a:lnTo>
                  <a:lnTo>
                    <a:pt x="4893691" y="16891"/>
                  </a:lnTo>
                  <a:lnTo>
                    <a:pt x="4893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0" name="TextBox 110"/>
          <p:cNvSpPr txBox="1"/>
          <p:nvPr/>
        </p:nvSpPr>
        <p:spPr>
          <a:xfrm>
            <a:off x="8083296" y="6135243"/>
            <a:ext cx="3511296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Comprehensive review of GenAI across cybersec domains</a:t>
            </a:r>
          </a:p>
        </p:txBody>
      </p:sp>
      <p:grpSp>
        <p:nvGrpSpPr>
          <p:cNvPr id="111" name="Group 111"/>
          <p:cNvGrpSpPr/>
          <p:nvPr/>
        </p:nvGrpSpPr>
        <p:grpSpPr>
          <a:xfrm>
            <a:off x="11655047" y="6058919"/>
            <a:ext cx="3609851" cy="1854203"/>
            <a:chOff x="0" y="0"/>
            <a:chExt cx="4813135" cy="2472271"/>
          </a:xfrm>
        </p:grpSpPr>
        <p:sp>
          <p:nvSpPr>
            <p:cNvPr id="112" name="Freeform 112"/>
            <p:cNvSpPr/>
            <p:nvPr/>
          </p:nvSpPr>
          <p:spPr>
            <a:xfrm>
              <a:off x="16891" y="16891"/>
              <a:ext cx="4779264" cy="2438400"/>
            </a:xfrm>
            <a:custGeom>
              <a:avLst/>
              <a:gdLst/>
              <a:ahLst/>
              <a:cxnLst/>
              <a:rect l="l" t="t" r="r" b="b"/>
              <a:pathLst>
                <a:path w="4779264" h="2438400">
                  <a:moveTo>
                    <a:pt x="0" y="0"/>
                  </a:moveTo>
                  <a:lnTo>
                    <a:pt x="4779264" y="0"/>
                  </a:lnTo>
                  <a:lnTo>
                    <a:pt x="4779264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3" name="Freeform 113"/>
            <p:cNvSpPr/>
            <p:nvPr/>
          </p:nvSpPr>
          <p:spPr>
            <a:xfrm>
              <a:off x="0" y="0"/>
              <a:ext cx="4813046" cy="2472182"/>
            </a:xfrm>
            <a:custGeom>
              <a:avLst/>
              <a:gdLst/>
              <a:ahLst/>
              <a:cxnLst/>
              <a:rect l="l" t="t" r="r" b="b"/>
              <a:pathLst>
                <a:path w="4813046" h="2472182">
                  <a:moveTo>
                    <a:pt x="16891" y="0"/>
                  </a:moveTo>
                  <a:lnTo>
                    <a:pt x="4796155" y="0"/>
                  </a:lnTo>
                  <a:cubicBezTo>
                    <a:pt x="4805553" y="0"/>
                    <a:pt x="4813046" y="7620"/>
                    <a:pt x="4813046" y="16891"/>
                  </a:cubicBezTo>
                  <a:lnTo>
                    <a:pt x="4813046" y="2455291"/>
                  </a:lnTo>
                  <a:cubicBezTo>
                    <a:pt x="4813046" y="2464689"/>
                    <a:pt x="4805426" y="2472182"/>
                    <a:pt x="4796155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4796155" y="2438400"/>
                  </a:lnTo>
                  <a:lnTo>
                    <a:pt x="4796155" y="2455291"/>
                  </a:lnTo>
                  <a:lnTo>
                    <a:pt x="4779264" y="2455291"/>
                  </a:lnTo>
                  <a:lnTo>
                    <a:pt x="4779264" y="16891"/>
                  </a:lnTo>
                  <a:lnTo>
                    <a:pt x="4796155" y="16891"/>
                  </a:lnTo>
                  <a:lnTo>
                    <a:pt x="4796155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4" name="TextBox 114"/>
          <p:cNvSpPr txBox="1"/>
          <p:nvPr/>
        </p:nvSpPr>
        <p:spPr>
          <a:xfrm>
            <a:off x="11740896" y="6135243"/>
            <a:ext cx="3438144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68% MTTR improvement; 75% report turnaround reduction cited</a:t>
            </a:r>
          </a:p>
        </p:txBody>
      </p:sp>
      <p:grpSp>
        <p:nvGrpSpPr>
          <p:cNvPr id="115" name="Group 115"/>
          <p:cNvGrpSpPr/>
          <p:nvPr/>
        </p:nvGrpSpPr>
        <p:grpSpPr>
          <a:xfrm>
            <a:off x="15239495" y="6058919"/>
            <a:ext cx="2914907" cy="1854203"/>
            <a:chOff x="0" y="0"/>
            <a:chExt cx="3886543" cy="2472271"/>
          </a:xfrm>
        </p:grpSpPr>
        <p:sp>
          <p:nvSpPr>
            <p:cNvPr id="116" name="Freeform 116"/>
            <p:cNvSpPr/>
            <p:nvPr/>
          </p:nvSpPr>
          <p:spPr>
            <a:xfrm>
              <a:off x="16891" y="16891"/>
              <a:ext cx="3852672" cy="2438400"/>
            </a:xfrm>
            <a:custGeom>
              <a:avLst/>
              <a:gdLst/>
              <a:ahLst/>
              <a:cxnLst/>
              <a:rect l="l" t="t" r="r" b="b"/>
              <a:pathLst>
                <a:path w="3852672" h="2438400">
                  <a:moveTo>
                    <a:pt x="0" y="0"/>
                  </a:moveTo>
                  <a:lnTo>
                    <a:pt x="3852672" y="0"/>
                  </a:lnTo>
                  <a:lnTo>
                    <a:pt x="3852672" y="2438400"/>
                  </a:lnTo>
                  <a:lnTo>
                    <a:pt x="0" y="2438400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17" name="Freeform 117"/>
            <p:cNvSpPr/>
            <p:nvPr/>
          </p:nvSpPr>
          <p:spPr>
            <a:xfrm>
              <a:off x="0" y="0"/>
              <a:ext cx="3886454" cy="2472182"/>
            </a:xfrm>
            <a:custGeom>
              <a:avLst/>
              <a:gdLst/>
              <a:ahLst/>
              <a:cxnLst/>
              <a:rect l="l" t="t" r="r" b="b"/>
              <a:pathLst>
                <a:path w="3886454" h="2472182">
                  <a:moveTo>
                    <a:pt x="16891" y="0"/>
                  </a:moveTo>
                  <a:lnTo>
                    <a:pt x="3869563" y="0"/>
                  </a:lnTo>
                  <a:cubicBezTo>
                    <a:pt x="3878961" y="0"/>
                    <a:pt x="3886454" y="7620"/>
                    <a:pt x="3886454" y="16891"/>
                  </a:cubicBezTo>
                  <a:lnTo>
                    <a:pt x="3886454" y="2455291"/>
                  </a:lnTo>
                  <a:cubicBezTo>
                    <a:pt x="3886454" y="2464689"/>
                    <a:pt x="3878834" y="2472182"/>
                    <a:pt x="3869563" y="2472182"/>
                  </a:cubicBezTo>
                  <a:lnTo>
                    <a:pt x="16891" y="2472182"/>
                  </a:lnTo>
                  <a:cubicBezTo>
                    <a:pt x="7493" y="2472182"/>
                    <a:pt x="0" y="2464562"/>
                    <a:pt x="0" y="24552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455291"/>
                  </a:lnTo>
                  <a:lnTo>
                    <a:pt x="16891" y="2455291"/>
                  </a:lnTo>
                  <a:lnTo>
                    <a:pt x="16891" y="2438400"/>
                  </a:lnTo>
                  <a:lnTo>
                    <a:pt x="3869563" y="2438400"/>
                  </a:lnTo>
                  <a:lnTo>
                    <a:pt x="3869563" y="2455291"/>
                  </a:lnTo>
                  <a:lnTo>
                    <a:pt x="3852672" y="2455291"/>
                  </a:lnTo>
                  <a:lnTo>
                    <a:pt x="3852672" y="16891"/>
                  </a:lnTo>
                  <a:lnTo>
                    <a:pt x="3869563" y="16891"/>
                  </a:lnTo>
                  <a:lnTo>
                    <a:pt x="38695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6B3A00"/>
            </a:solidFill>
          </p:spPr>
        </p:sp>
      </p:grpSp>
      <p:sp>
        <p:nvSpPr>
          <p:cNvPr id="118" name="TextBox 118"/>
          <p:cNvSpPr txBox="1"/>
          <p:nvPr/>
        </p:nvSpPr>
        <p:spPr>
          <a:xfrm>
            <a:off x="15325344" y="6135243"/>
            <a:ext cx="2743200" cy="16737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Hallucination risk; data privacy and confidentiality concerns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329184" y="402336"/>
            <a:ext cx="8595360" cy="1024128"/>
            <a:chOff x="0" y="0"/>
            <a:chExt cx="11460480" cy="13655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460480" cy="1365504"/>
            </a:xfrm>
            <a:custGeom>
              <a:avLst/>
              <a:gdLst/>
              <a:ahLst/>
              <a:cxnLst/>
              <a:rect l="l" t="t" r="r" b="b"/>
              <a:pathLst>
                <a:path w="11460480" h="1365504">
                  <a:moveTo>
                    <a:pt x="0" y="0"/>
                  </a:moveTo>
                  <a:lnTo>
                    <a:pt x="11460480" y="0"/>
                  </a:lnTo>
                  <a:lnTo>
                    <a:pt x="11460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535" b="-113535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1460480" cy="1375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519"/>
                </a:lnSpc>
              </a:pPr>
              <a:r>
                <a:rPr lang="en-US" sz="4599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Summary of Literature Survey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307927" y="2432309"/>
            <a:ext cx="7718422" cy="5440680"/>
            <a:chOff x="0" y="0"/>
            <a:chExt cx="10291229" cy="7254240"/>
          </a:xfrm>
        </p:grpSpPr>
        <p:sp>
          <p:nvSpPr>
            <p:cNvPr id="12" name="Freeform 12" descr="25 LLM Best Practices I Believe Every Engineer Should Learn Early | by  Khushbu Shah | Feb, 2026 | Towards AI"/>
            <p:cNvSpPr/>
            <p:nvPr/>
          </p:nvSpPr>
          <p:spPr>
            <a:xfrm>
              <a:off x="0" y="0"/>
              <a:ext cx="10291191" cy="7254240"/>
            </a:xfrm>
            <a:custGeom>
              <a:avLst/>
              <a:gdLst/>
              <a:ahLst/>
              <a:cxnLst/>
              <a:rect l="l" t="t" r="r" b="b"/>
              <a:pathLst>
                <a:path w="10291191" h="7254240">
                  <a:moveTo>
                    <a:pt x="0" y="0"/>
                  </a:moveTo>
                  <a:lnTo>
                    <a:pt x="10291191" y="0"/>
                  </a:lnTo>
                  <a:lnTo>
                    <a:pt x="10291191" y="7254240"/>
                  </a:lnTo>
                  <a:lnTo>
                    <a:pt x="0" y="72542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r="-5772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462812" y="1714124"/>
            <a:ext cx="9845115" cy="6877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LLMs outperform rule-based systems by providing contextual, reasoning-based threat analysis beyond static thresholds.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RAG (Retrieval-Augmented Generation) significantly improves incident response accuracy by grounding decisions in real-time threat intelligence.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Alert fatigue is the biggest SOC challenge, with 80–99% false positives, reducing analyst efficiency.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Human-AI collaboration is critical — full automation is premature; best results come from Human-in-the-Loop (HITL) systems.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SIEM integration at scale remains unsolved — most LLM-based SOC solutions are still prototypes with limited real-world deployment.</a:t>
            </a:r>
          </a:p>
          <a:p>
            <a:pPr algn="l">
              <a:lnSpc>
                <a:spcPts val="2879"/>
              </a:lnSpc>
            </a:pPr>
            <a:endParaRPr lang="en-US" sz="24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marL="518160" lvl="1" indent="-259080" algn="l">
              <a:lnSpc>
                <a:spcPts val="2879"/>
              </a:lnSpc>
              <a:buFont typeface="Arial"/>
              <a:buChar char="•"/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Explainability is a major barrier — lack of transparency in LLM decisions reduces trust; XAI (Explainable AI) is essential for adoption.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274320" y="365760"/>
            <a:ext cx="17739360" cy="914400"/>
            <a:chOff x="0" y="0"/>
            <a:chExt cx="23652480" cy="12192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652480" cy="1219200"/>
            </a:xfrm>
            <a:custGeom>
              <a:avLst/>
              <a:gdLst/>
              <a:ahLst/>
              <a:cxnLst/>
              <a:rect l="l" t="t" r="r" b="b"/>
              <a:pathLst>
                <a:path w="23652480" h="1219200">
                  <a:moveTo>
                    <a:pt x="0" y="0"/>
                  </a:moveTo>
                  <a:lnTo>
                    <a:pt x="23652480" y="0"/>
                  </a:lnTo>
                  <a:lnTo>
                    <a:pt x="2365248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8009" b="-328009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0"/>
              <a:ext cx="23652480" cy="12192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759"/>
                </a:lnSpc>
              </a:pPr>
              <a:r>
                <a:rPr lang="en-US" sz="48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Problem Statement, Scope, and Objectives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9184" y="1499616"/>
            <a:ext cx="8631936" cy="548640"/>
            <a:chOff x="0" y="0"/>
            <a:chExt cx="11509248" cy="73152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509248" cy="731520"/>
            </a:xfrm>
            <a:custGeom>
              <a:avLst/>
              <a:gdLst/>
              <a:ahLst/>
              <a:cxnLst/>
              <a:rect l="l" t="t" r="r" b="b"/>
              <a:pathLst>
                <a:path w="11509248" h="731520">
                  <a:moveTo>
                    <a:pt x="0" y="0"/>
                  </a:moveTo>
                  <a:lnTo>
                    <a:pt x="11509248" y="0"/>
                  </a:lnTo>
                  <a:lnTo>
                    <a:pt x="1150924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6564" b="-256564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19050"/>
              <a:ext cx="11509248" cy="7505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Problem Statements:</a:t>
              </a:r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420624" y="2130552"/>
            <a:ext cx="8449056" cy="4078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1. Over 80–99% of SIEM alerts are false positives, overwhelming analysts daily.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2. Rule-based systems lack contextual reasoning — miss zero-day and novel attacks.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3. Manual triage is slow and inconsistent — dangerously high Mean Time To Respond.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4. Existing systems generate no human-readable attack narratives for analysts.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5. SOAR playbooks are rigid — fail on all attacks outside pre-defined scenarios.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6. SIEM platforms (Splunk/Sentinel/QRadar) use incompatible proprietary query languages.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329184" y="7017172"/>
            <a:ext cx="8631936" cy="501225"/>
            <a:chOff x="0" y="0"/>
            <a:chExt cx="11509248" cy="66829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509248" cy="668301"/>
            </a:xfrm>
            <a:custGeom>
              <a:avLst/>
              <a:gdLst/>
              <a:ahLst/>
              <a:cxnLst/>
              <a:rect l="l" t="t" r="r" b="b"/>
              <a:pathLst>
                <a:path w="11509248" h="668301">
                  <a:moveTo>
                    <a:pt x="0" y="0"/>
                  </a:moveTo>
                  <a:lnTo>
                    <a:pt x="11509248" y="0"/>
                  </a:lnTo>
                  <a:lnTo>
                    <a:pt x="11509248" y="668301"/>
                  </a:lnTo>
                  <a:lnTo>
                    <a:pt x="0" y="668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564" b="-285564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1509248" cy="68734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• Scope: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9184" y="7367349"/>
            <a:ext cx="8631936" cy="1420035"/>
            <a:chOff x="0" y="0"/>
            <a:chExt cx="11509248" cy="18933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509248" cy="1893376"/>
            </a:xfrm>
            <a:custGeom>
              <a:avLst/>
              <a:gdLst/>
              <a:ahLst/>
              <a:cxnLst/>
              <a:rect l="l" t="t" r="r" b="b"/>
              <a:pathLst>
                <a:path w="11509248" h="1893376">
                  <a:moveTo>
                    <a:pt x="0" y="0"/>
                  </a:moveTo>
                  <a:lnTo>
                    <a:pt x="11509248" y="0"/>
                  </a:lnTo>
                  <a:lnTo>
                    <a:pt x="11509248" y="1893376"/>
                  </a:lnTo>
                  <a:lnTo>
                    <a:pt x="0" y="189337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68443" b="-6844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1509248" cy="18933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Develop an LLM-powered SOC Analyst with a simulated SIEM (Flask + Elasticsearch + Kibana) for alert triage, attack narrative generation, and IR recommendations.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9222743" y="1322327"/>
            <a:ext cx="8803643" cy="8529323"/>
            <a:chOff x="0" y="0"/>
            <a:chExt cx="11738191" cy="11372431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11704320" cy="11338560"/>
            </a:xfrm>
            <a:custGeom>
              <a:avLst/>
              <a:gdLst/>
              <a:ahLst/>
              <a:cxnLst/>
              <a:rect l="l" t="t" r="r" b="b"/>
              <a:pathLst>
                <a:path w="11704320" h="11338560">
                  <a:moveTo>
                    <a:pt x="0" y="0"/>
                  </a:moveTo>
                  <a:lnTo>
                    <a:pt x="11704320" y="0"/>
                  </a:lnTo>
                  <a:lnTo>
                    <a:pt x="11704320" y="11338560"/>
                  </a:lnTo>
                  <a:lnTo>
                    <a:pt x="0" y="11338560"/>
                  </a:lnTo>
                  <a:close/>
                </a:path>
              </a:pathLst>
            </a:custGeom>
            <a:solidFill>
              <a:srgbClr val="EBE4D8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1738101" cy="11372342"/>
            </a:xfrm>
            <a:custGeom>
              <a:avLst/>
              <a:gdLst/>
              <a:ahLst/>
              <a:cxnLst/>
              <a:rect l="l" t="t" r="r" b="b"/>
              <a:pathLst>
                <a:path w="11738101" h="11372342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11355451"/>
                  </a:lnTo>
                  <a:cubicBezTo>
                    <a:pt x="11738101" y="11364849"/>
                    <a:pt x="11730482" y="11372342"/>
                    <a:pt x="11721211" y="11372342"/>
                  </a:cubicBezTo>
                  <a:lnTo>
                    <a:pt x="16891" y="11372342"/>
                  </a:lnTo>
                  <a:cubicBezTo>
                    <a:pt x="7493" y="11372342"/>
                    <a:pt x="0" y="11364722"/>
                    <a:pt x="0" y="113554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355451"/>
                  </a:lnTo>
                  <a:lnTo>
                    <a:pt x="16891" y="11355451"/>
                  </a:lnTo>
                  <a:lnTo>
                    <a:pt x="16891" y="11338560"/>
                  </a:lnTo>
                  <a:lnTo>
                    <a:pt x="11721211" y="11338560"/>
                  </a:lnTo>
                  <a:lnTo>
                    <a:pt x="11721211" y="11355451"/>
                  </a:lnTo>
                  <a:lnTo>
                    <a:pt x="11704320" y="11355451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BE4D8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9363456" y="5349240"/>
            <a:ext cx="8503920" cy="411480"/>
            <a:chOff x="0" y="0"/>
            <a:chExt cx="11338560" cy="54864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338560" cy="548640"/>
            </a:xfrm>
            <a:custGeom>
              <a:avLst/>
              <a:gdLst/>
              <a:ahLst/>
              <a:cxnLst/>
              <a:rect l="l" t="t" r="r" b="b"/>
              <a:pathLst>
                <a:path w="11338560" h="548640">
                  <a:moveTo>
                    <a:pt x="0" y="0"/>
                  </a:moveTo>
                  <a:lnTo>
                    <a:pt x="11338560" y="0"/>
                  </a:lnTo>
                  <a:lnTo>
                    <a:pt x="11338560" y="548640"/>
                  </a:lnTo>
                  <a:lnTo>
                    <a:pt x="0" y="548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52690" b="-352690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1338560" cy="5676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3A200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• Objectives: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9454896" y="5879592"/>
            <a:ext cx="8010144" cy="3679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A2000"/>
                </a:solidFill>
                <a:latin typeface="Georgia"/>
                <a:ea typeface="Georgia"/>
                <a:cs typeface="Georgia"/>
                <a:sym typeface="Georgia"/>
              </a:rPr>
              <a:t>Develop a simulated SIEM using Flask, Elasticsearch and Kibana.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A2000"/>
                </a:solidFill>
                <a:latin typeface="Georgia"/>
                <a:ea typeface="Georgia"/>
                <a:cs typeface="Georgia"/>
                <a:sym typeface="Georgia"/>
              </a:rPr>
              <a:t>Evaluate LLMs for reducing false-positive rates in real-time triage.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A2000"/>
                </a:solidFill>
                <a:latin typeface="Georgia"/>
                <a:ea typeface="Georgia"/>
                <a:cs typeface="Georgia"/>
                <a:sym typeface="Georgia"/>
              </a:rPr>
              <a:t>Design an engine to generate human-readable attack narratives.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A2000"/>
                </a:solidFill>
                <a:latin typeface="Georgia"/>
                <a:ea typeface="Georgia"/>
                <a:cs typeface="Georgia"/>
                <a:sym typeface="Georgia"/>
              </a:rPr>
              <a:t>Implement decision-support module recommending IR actions.</a:t>
            </a:r>
          </a:p>
          <a:p>
            <a:pPr algn="l">
              <a:lnSpc>
                <a:spcPts val="2760"/>
              </a:lnSpc>
            </a:pPr>
            <a:r>
              <a:rPr lang="en-US" sz="2300">
                <a:solidFill>
                  <a:srgbClr val="3A2000"/>
                </a:solidFill>
                <a:latin typeface="Georgia"/>
                <a:ea typeface="Georgia"/>
                <a:cs typeface="Georgia"/>
                <a:sym typeface="Georgia"/>
              </a:rPr>
              <a:t>Assess MTTR improvement in a controlled simulation environment.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9802368" y="1499616"/>
            <a:ext cx="7827264" cy="3455908"/>
            <a:chOff x="0" y="0"/>
            <a:chExt cx="10436352" cy="4607878"/>
          </a:xfrm>
        </p:grpSpPr>
        <p:sp>
          <p:nvSpPr>
            <p:cNvPr id="32" name="Freeform 32"/>
            <p:cNvSpPr/>
            <p:nvPr/>
          </p:nvSpPr>
          <p:spPr>
            <a:xfrm>
              <a:off x="0" y="0"/>
              <a:ext cx="10436352" cy="4607814"/>
            </a:xfrm>
            <a:custGeom>
              <a:avLst/>
              <a:gdLst/>
              <a:ahLst/>
              <a:cxnLst/>
              <a:rect l="l" t="t" r="r" b="b"/>
              <a:pathLst>
                <a:path w="10436352" h="4607814">
                  <a:moveTo>
                    <a:pt x="0" y="0"/>
                  </a:moveTo>
                  <a:lnTo>
                    <a:pt x="10436352" y="0"/>
                  </a:lnTo>
                  <a:lnTo>
                    <a:pt x="10436352" y="4607814"/>
                  </a:lnTo>
                  <a:lnTo>
                    <a:pt x="0" y="460781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9309" b="-9311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Overview of Existing Systems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5536" y="1645920"/>
            <a:ext cx="14721840" cy="1005840"/>
            <a:chOff x="0" y="0"/>
            <a:chExt cx="19629120" cy="13411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29120" cy="1341120"/>
            </a:xfrm>
            <a:custGeom>
              <a:avLst/>
              <a:gdLst/>
              <a:ahLst/>
              <a:cxnLst/>
              <a:rect l="l" t="t" r="r" b="b"/>
              <a:pathLst>
                <a:path w="19629120" h="1341120">
                  <a:moveTo>
                    <a:pt x="0" y="0"/>
                  </a:moveTo>
                  <a:lnTo>
                    <a:pt x="19629120" y="0"/>
                  </a:lnTo>
                  <a:lnTo>
                    <a:pt x="19629120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5190" b="-23519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629120" cy="13506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 i="1">
                  <a:solidFill>
                    <a:srgbClr val="F5E6CC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Current security operations rely heavily on SIEM and SOAR platforms. These systems aggregate logs, correlate events, and trigger rule-based alerts — but lack the cognitive capacity to understand threat context.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45536" y="2816352"/>
            <a:ext cx="14721840" cy="603504"/>
            <a:chOff x="0" y="0"/>
            <a:chExt cx="19629120" cy="8046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29120" cy="804672"/>
            </a:xfrm>
            <a:custGeom>
              <a:avLst/>
              <a:gdLst/>
              <a:ahLst/>
              <a:cxnLst/>
              <a:rect l="l" t="t" r="r" b="b"/>
              <a:pathLst>
                <a:path w="19629120" h="804672">
                  <a:moveTo>
                    <a:pt x="0" y="0"/>
                  </a:moveTo>
                  <a:lnTo>
                    <a:pt x="19629120" y="0"/>
                  </a:lnTo>
                  <a:lnTo>
                    <a:pt x="1962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316" b="-42531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962912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9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1. Splunk SIEM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45536" y="3419856"/>
            <a:ext cx="14721840" cy="950976"/>
            <a:chOff x="0" y="0"/>
            <a:chExt cx="19629120" cy="1267968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629120" cy="1267968"/>
            </a:xfrm>
            <a:custGeom>
              <a:avLst/>
              <a:gdLst/>
              <a:ahLst/>
              <a:cxnLst/>
              <a:rect l="l" t="t" r="r" b="b"/>
              <a:pathLst>
                <a:path w="19629120" h="1267968">
                  <a:moveTo>
                    <a:pt x="0" y="0"/>
                  </a:moveTo>
                  <a:lnTo>
                    <a:pt x="19629120" y="0"/>
                  </a:lnTo>
                  <a:lnTo>
                    <a:pt x="19629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643" b="-251643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1962912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Industry-leading log aggregation using SPL queries. Correlates events across sources. No native LLM reasoning — relies entirely on hand-crafted detection rules and static correlation.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45536" y="4498848"/>
            <a:ext cx="14721840" cy="603504"/>
            <a:chOff x="0" y="0"/>
            <a:chExt cx="19629120" cy="804672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629120" cy="804672"/>
            </a:xfrm>
            <a:custGeom>
              <a:avLst/>
              <a:gdLst/>
              <a:ahLst/>
              <a:cxnLst/>
              <a:rect l="l" t="t" r="r" b="b"/>
              <a:pathLst>
                <a:path w="19629120" h="804672">
                  <a:moveTo>
                    <a:pt x="0" y="0"/>
                  </a:moveTo>
                  <a:lnTo>
                    <a:pt x="19629120" y="0"/>
                  </a:lnTo>
                  <a:lnTo>
                    <a:pt x="1962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316" b="-42531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962912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9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2. Microsoft Sentinel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145536" y="5102352"/>
            <a:ext cx="14721840" cy="950976"/>
            <a:chOff x="0" y="0"/>
            <a:chExt cx="19629120" cy="1267968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629120" cy="1267968"/>
            </a:xfrm>
            <a:custGeom>
              <a:avLst/>
              <a:gdLst/>
              <a:ahLst/>
              <a:cxnLst/>
              <a:rect l="l" t="t" r="r" b="b"/>
              <a:pathLst>
                <a:path w="19629120" h="1267968">
                  <a:moveTo>
                    <a:pt x="0" y="0"/>
                  </a:moveTo>
                  <a:lnTo>
                    <a:pt x="19629120" y="0"/>
                  </a:lnTo>
                  <a:lnTo>
                    <a:pt x="19629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643" b="-251643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962912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Cloud-native SIEM/SOAR on Azure. Uses KQL analytics with playbook automation. Limited contextual alert interpretation for novel or ambiguous attack patterns.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45536" y="6181344"/>
            <a:ext cx="14721840" cy="603504"/>
            <a:chOff x="0" y="0"/>
            <a:chExt cx="19629120" cy="804672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629120" cy="804672"/>
            </a:xfrm>
            <a:custGeom>
              <a:avLst/>
              <a:gdLst/>
              <a:ahLst/>
              <a:cxnLst/>
              <a:rect l="l" t="t" r="r" b="b"/>
              <a:pathLst>
                <a:path w="19629120" h="804672">
                  <a:moveTo>
                    <a:pt x="0" y="0"/>
                  </a:moveTo>
                  <a:lnTo>
                    <a:pt x="19629120" y="0"/>
                  </a:lnTo>
                  <a:lnTo>
                    <a:pt x="1962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316" b="-42531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-9525"/>
              <a:ext cx="1962912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9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3. IBM QRadar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45536" y="6784848"/>
            <a:ext cx="14721840" cy="950976"/>
            <a:chOff x="0" y="0"/>
            <a:chExt cx="19629120" cy="1267968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29120" cy="1267968"/>
            </a:xfrm>
            <a:custGeom>
              <a:avLst/>
              <a:gdLst/>
              <a:ahLst/>
              <a:cxnLst/>
              <a:rect l="l" t="t" r="r" b="b"/>
              <a:pathLst>
                <a:path w="19629120" h="1267968">
                  <a:moveTo>
                    <a:pt x="0" y="0"/>
                  </a:moveTo>
                  <a:lnTo>
                    <a:pt x="19629120" y="0"/>
                  </a:lnTo>
                  <a:lnTo>
                    <a:pt x="19629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643" b="-251643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0"/>
              <a:ext cx="1962912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Enterprise SIEM with network flow analysis. Rule-based offense generation with extensive manual tuning. Requires deep specialization; no contextual reasoning layer available.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145536" y="7863840"/>
            <a:ext cx="14721840" cy="603504"/>
            <a:chOff x="0" y="0"/>
            <a:chExt cx="19629120" cy="804672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629120" cy="804672"/>
            </a:xfrm>
            <a:custGeom>
              <a:avLst/>
              <a:gdLst/>
              <a:ahLst/>
              <a:cxnLst/>
              <a:rect l="l" t="t" r="r" b="b"/>
              <a:pathLst>
                <a:path w="19629120" h="804672">
                  <a:moveTo>
                    <a:pt x="0" y="0"/>
                  </a:moveTo>
                  <a:lnTo>
                    <a:pt x="19629120" y="0"/>
                  </a:lnTo>
                  <a:lnTo>
                    <a:pt x="19629120" y="804672"/>
                  </a:lnTo>
                  <a:lnTo>
                    <a:pt x="0" y="80467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25316" b="-42531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-9525"/>
              <a:ext cx="19629120" cy="8141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79"/>
                </a:lnSpc>
              </a:pPr>
              <a:r>
                <a:rPr lang="en-US" sz="29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4. Splunk SOAR (Phantom)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45536" y="8467344"/>
            <a:ext cx="14721840" cy="950976"/>
            <a:chOff x="0" y="0"/>
            <a:chExt cx="19629120" cy="1267968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629120" cy="1267968"/>
            </a:xfrm>
            <a:custGeom>
              <a:avLst/>
              <a:gdLst/>
              <a:ahLst/>
              <a:cxnLst/>
              <a:rect l="l" t="t" r="r" b="b"/>
              <a:pathLst>
                <a:path w="19629120" h="1267968">
                  <a:moveTo>
                    <a:pt x="0" y="0"/>
                  </a:moveTo>
                  <a:lnTo>
                    <a:pt x="19629120" y="0"/>
                  </a:lnTo>
                  <a:lnTo>
                    <a:pt x="19629120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1643" b="-251643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0"/>
              <a:ext cx="19629120" cy="126796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Orchestration platform executing pre-defined playbooks. Cannot adapt to novel attack sequences outside configured scenarios. Fully manual intervention required for unknown threats.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Limitations of Existing System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45536" y="1682496"/>
            <a:ext cx="14721840" cy="548640"/>
            <a:chOff x="0" y="0"/>
            <a:chExt cx="1962912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1. Alert Fatigue &amp; Inefficiency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45536" y="2231136"/>
            <a:ext cx="14721840" cy="731520"/>
            <a:chOff x="0" y="0"/>
            <a:chExt cx="1962912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Manual triage creates massive backlogs. Analysts review 100–1000+ alerts daily, most irrelevant. MTTR degrades significantly under volume pressure.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145536" y="3035808"/>
            <a:ext cx="14721840" cy="548640"/>
            <a:chOff x="0" y="0"/>
            <a:chExt cx="1962912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2. Lack of Contextual Reasoning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45536" y="3584448"/>
            <a:ext cx="14721840" cy="731520"/>
            <a:chOff x="0" y="0"/>
            <a:chExt cx="19629120" cy="9753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Rule-based detection cannot understand intent behind event sequences. Zero-day and living-off-the-land attacks bypass all static detection signatures entirely.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45536" y="4389120"/>
            <a:ext cx="14721840" cy="548640"/>
            <a:chOff x="0" y="0"/>
            <a:chExt cx="196291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3. False Positive Rates of 80–99%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145536" y="4937760"/>
            <a:ext cx="14721840" cy="731520"/>
            <a:chOff x="0" y="0"/>
            <a:chExt cx="19629120" cy="9753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Most SIEM alerts are benign. Analysts waste critical time on noise, and genuine threats are frequently missed, delayed, or under-prioritised.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45536" y="5742432"/>
            <a:ext cx="14721840" cy="548640"/>
            <a:chOff x="0" y="0"/>
            <a:chExt cx="1962912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4. No Attack Narrative Generation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145536" y="6291072"/>
            <a:ext cx="14721840" cy="731520"/>
            <a:chOff x="0" y="0"/>
            <a:chExt cx="19629120" cy="975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Existing systems produce data — not stories. Analysts must manually reconstruct attack chains by correlating raw events across multiple log sources.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145536" y="7095744"/>
            <a:ext cx="14721840" cy="548640"/>
            <a:chOff x="0" y="0"/>
            <a:chExt cx="1962912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5. Rigid Automation in SOAR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45536" y="7644384"/>
            <a:ext cx="14721840" cy="731520"/>
            <a:chOff x="0" y="0"/>
            <a:chExt cx="19629120" cy="9753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SOAR playbooks work only for pre-defined scenarios. Novel or hybrid attacks beyond playbook scope require full manual intervention with zero AI assistance.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45536" y="8449056"/>
            <a:ext cx="14721840" cy="548640"/>
            <a:chOff x="0" y="0"/>
            <a:chExt cx="1962912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6. SIEM Interoperability Barriers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145536" y="8997696"/>
            <a:ext cx="14721840" cy="731520"/>
            <a:chOff x="0" y="0"/>
            <a:chExt cx="19629120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Splunk (SPL), Sentinel (KQL), and QRadar (AQL) each use incompatible query languages — requiring deep specialization per platform and limiting visibility.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685800" y="919739"/>
            <a:ext cx="8595360" cy="1024128"/>
            <a:chOff x="0" y="0"/>
            <a:chExt cx="11460480" cy="1365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60480" cy="1365504"/>
            </a:xfrm>
            <a:custGeom>
              <a:avLst/>
              <a:gdLst/>
              <a:ahLst/>
              <a:cxnLst/>
              <a:rect l="l" t="t" r="r" b="b"/>
              <a:pathLst>
                <a:path w="11460480" h="1365504">
                  <a:moveTo>
                    <a:pt x="0" y="0"/>
                  </a:moveTo>
                  <a:lnTo>
                    <a:pt x="11460480" y="0"/>
                  </a:lnTo>
                  <a:lnTo>
                    <a:pt x="11460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535" b="-11353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1460480" cy="1375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280"/>
                </a:lnSpc>
              </a:pPr>
              <a:r>
                <a:rPr lang="en-US" sz="4400" dirty="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Proposed System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024786" y="1866900"/>
            <a:ext cx="7662014" cy="585216"/>
            <a:chOff x="0" y="0"/>
            <a:chExt cx="10216019" cy="780288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0216019" cy="780288"/>
            </a:xfrm>
            <a:custGeom>
              <a:avLst/>
              <a:gdLst/>
              <a:ahLst/>
              <a:cxnLst/>
              <a:rect l="l" t="t" r="r" b="b"/>
              <a:pathLst>
                <a:path w="10216019" h="780288">
                  <a:moveTo>
                    <a:pt x="0" y="0"/>
                  </a:moveTo>
                  <a:lnTo>
                    <a:pt x="10216019" y="0"/>
                  </a:lnTo>
                  <a:lnTo>
                    <a:pt x="1021601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186" r="-12181" b="-236186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19050"/>
              <a:ext cx="10216019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Core Concept: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24786" y="2452116"/>
            <a:ext cx="7662014" cy="1645920"/>
            <a:chOff x="0" y="0"/>
            <a:chExt cx="10216019" cy="219456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216019" cy="2194560"/>
            </a:xfrm>
            <a:custGeom>
              <a:avLst/>
              <a:gdLst/>
              <a:ahLst/>
              <a:cxnLst/>
              <a:rect l="l" t="t" r="r" b="b"/>
              <a:pathLst>
                <a:path w="10216019" h="2194560">
                  <a:moveTo>
                    <a:pt x="0" y="0"/>
                  </a:moveTo>
                  <a:lnTo>
                    <a:pt x="10216019" y="0"/>
                  </a:lnTo>
                  <a:lnTo>
                    <a:pt x="10216019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51755" r="-12181" b="-51755"/>
              </a:stretch>
            </a:blipFill>
          </p:spPr>
        </p:sp>
        <p:sp>
          <p:nvSpPr>
            <p:cNvPr id="22" name="TextBox 22"/>
            <p:cNvSpPr txBox="1"/>
            <p:nvPr/>
          </p:nvSpPr>
          <p:spPr>
            <a:xfrm>
              <a:off x="0" y="0"/>
              <a:ext cx="10216019" cy="21945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An LLM-Powered SOC Analyst that uses Large Language Models to understand event context, reduce false positives, generate attack narratives, and recommend IR actions — integrated with a simulated SIEM.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024786" y="4207764"/>
            <a:ext cx="7662014" cy="585216"/>
            <a:chOff x="0" y="0"/>
            <a:chExt cx="10216019" cy="780288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0216019" cy="780288"/>
            </a:xfrm>
            <a:custGeom>
              <a:avLst/>
              <a:gdLst/>
              <a:ahLst/>
              <a:cxnLst/>
              <a:rect l="l" t="t" r="r" b="b"/>
              <a:pathLst>
                <a:path w="10216019" h="780288">
                  <a:moveTo>
                    <a:pt x="0" y="0"/>
                  </a:moveTo>
                  <a:lnTo>
                    <a:pt x="10216019" y="0"/>
                  </a:lnTo>
                  <a:lnTo>
                    <a:pt x="10216019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6186" r="-12181" b="-236186"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0" y="-19050"/>
              <a:ext cx="10216019" cy="7993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Unique Contributions: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1106297" y="4875276"/>
            <a:ext cx="7498993" cy="398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AI-driven alert contextualization via LLM reasoning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LLM-based attack narrative generation from raw logs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False-positive reduction through contextual understanding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RAG-based CTI enrichment for grounded LLM decisions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MITRE ATT&amp;CK mapping for every detected alert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Decision-support IR recommendations with HITL approval</a:t>
            </a:r>
          </a:p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• Flask + Elasticsearch + Kibana SIEM simulation pipeline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592C46AB-CE09-B941-6071-8DE998D8AC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468"/>
          <a:stretch>
            <a:fillRect/>
          </a:stretch>
        </p:blipFill>
        <p:spPr>
          <a:xfrm>
            <a:off x="10439400" y="919739"/>
            <a:ext cx="7146471" cy="80968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Proposed System Architecture</a:t>
              </a:r>
            </a:p>
          </p:txBody>
        </p:sp>
      </p:grpSp>
      <p:pic>
        <p:nvPicPr>
          <p:cNvPr id="140" name="Picture 139">
            <a:extLst>
              <a:ext uri="{FF2B5EF4-FFF2-40B4-BE49-F238E27FC236}">
                <a16:creationId xmlns:a16="http://schemas.microsoft.com/office/drawing/2014/main" id="{0C0400AC-836E-EE3E-C80B-889DBBF146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31" b="6756"/>
          <a:stretch>
            <a:fillRect/>
          </a:stretch>
        </p:blipFill>
        <p:spPr>
          <a:xfrm>
            <a:off x="1943070" y="1571721"/>
            <a:ext cx="14401800" cy="806757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Software / Technology Stack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70183" y="1669799"/>
            <a:ext cx="5767835" cy="3500123"/>
            <a:chOff x="0" y="0"/>
            <a:chExt cx="7690447" cy="4666831"/>
          </a:xfrm>
        </p:grpSpPr>
        <p:sp>
          <p:nvSpPr>
            <p:cNvPr id="12" name="Freeform 12"/>
            <p:cNvSpPr/>
            <p:nvPr/>
          </p:nvSpPr>
          <p:spPr>
            <a:xfrm>
              <a:off x="16891" y="16891"/>
              <a:ext cx="7656576" cy="4632960"/>
            </a:xfrm>
            <a:custGeom>
              <a:avLst/>
              <a:gdLst/>
              <a:ahLst/>
              <a:cxnLst/>
              <a:rect l="l" t="t" r="r" b="b"/>
              <a:pathLst>
                <a:path w="7656576" h="4632960">
                  <a:moveTo>
                    <a:pt x="0" y="0"/>
                  </a:moveTo>
                  <a:lnTo>
                    <a:pt x="7656576" y="0"/>
                  </a:lnTo>
                  <a:lnTo>
                    <a:pt x="7656576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3" name="Freeform 13"/>
            <p:cNvSpPr/>
            <p:nvPr/>
          </p:nvSpPr>
          <p:spPr>
            <a:xfrm>
              <a:off x="0" y="0"/>
              <a:ext cx="7690358" cy="4666742"/>
            </a:xfrm>
            <a:custGeom>
              <a:avLst/>
              <a:gdLst/>
              <a:ahLst/>
              <a:cxnLst/>
              <a:rect l="l" t="t" r="r" b="b"/>
              <a:pathLst>
                <a:path w="7690358" h="4666742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4649851"/>
                  </a:lnTo>
                  <a:cubicBezTo>
                    <a:pt x="7690358" y="4659249"/>
                    <a:pt x="7682738" y="4666742"/>
                    <a:pt x="7673467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673467" y="4632960"/>
                  </a:lnTo>
                  <a:lnTo>
                    <a:pt x="7673467" y="4649851"/>
                  </a:lnTo>
                  <a:lnTo>
                    <a:pt x="7656576" y="4649851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4" name="Group 14"/>
          <p:cNvGrpSpPr/>
          <p:nvPr/>
        </p:nvGrpSpPr>
        <p:grpSpPr>
          <a:xfrm>
            <a:off x="170183" y="1669799"/>
            <a:ext cx="5767835" cy="647195"/>
            <a:chOff x="0" y="0"/>
            <a:chExt cx="7690447" cy="862927"/>
          </a:xfrm>
        </p:grpSpPr>
        <p:sp>
          <p:nvSpPr>
            <p:cNvPr id="15" name="Freeform 15"/>
            <p:cNvSpPr/>
            <p:nvPr/>
          </p:nvSpPr>
          <p:spPr>
            <a:xfrm>
              <a:off x="16891" y="16891"/>
              <a:ext cx="7656576" cy="829056"/>
            </a:xfrm>
            <a:custGeom>
              <a:avLst/>
              <a:gdLst/>
              <a:ahLst/>
              <a:cxnLst/>
              <a:rect l="l" t="t" r="r" b="b"/>
              <a:pathLst>
                <a:path w="7656576" h="829056">
                  <a:moveTo>
                    <a:pt x="0" y="0"/>
                  </a:moveTo>
                  <a:lnTo>
                    <a:pt x="7656576" y="0"/>
                  </a:lnTo>
                  <a:lnTo>
                    <a:pt x="765657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0" y="0"/>
              <a:ext cx="7690358" cy="862840"/>
            </a:xfrm>
            <a:custGeom>
              <a:avLst/>
              <a:gdLst/>
              <a:ahLst/>
              <a:cxnLst/>
              <a:rect l="l" t="t" r="r" b="b"/>
              <a:pathLst>
                <a:path w="7690358" h="862840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845947"/>
                  </a:lnTo>
                  <a:cubicBezTo>
                    <a:pt x="7690358" y="855345"/>
                    <a:pt x="7682738" y="862838"/>
                    <a:pt x="7673467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7673467" y="829056"/>
                  </a:lnTo>
                  <a:lnTo>
                    <a:pt x="7673467" y="845947"/>
                  </a:lnTo>
                  <a:lnTo>
                    <a:pt x="7656576" y="845947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292608" y="1682496"/>
            <a:ext cx="5522976" cy="621792"/>
            <a:chOff x="0" y="0"/>
            <a:chExt cx="7363968" cy="829056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7363968" cy="829056"/>
            </a:xfrm>
            <a:custGeom>
              <a:avLst/>
              <a:gdLst/>
              <a:ahLst/>
              <a:cxnLst/>
              <a:rect l="l" t="t" r="r" b="b"/>
              <a:pathLst>
                <a:path w="7363968" h="829056">
                  <a:moveTo>
                    <a:pt x="0" y="0"/>
                  </a:moveTo>
                  <a:lnTo>
                    <a:pt x="7363968" y="0"/>
                  </a:lnTo>
                  <a:lnTo>
                    <a:pt x="73639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072" b="-123072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7363968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SIEM Simulation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81000" y="2868044"/>
            <a:ext cx="5522976" cy="18466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Flask / </a:t>
            </a:r>
            <a:r>
              <a:rPr lang="en-IN" sz="2000" b="1" dirty="0" err="1">
                <a:solidFill>
                  <a:schemeClr val="bg1"/>
                </a:solidFill>
              </a:rPr>
              <a:t>FastAPI</a:t>
            </a:r>
            <a:r>
              <a:rPr lang="en-IN" sz="2000" dirty="0">
                <a:solidFill>
                  <a:schemeClr val="bg1"/>
                </a:solidFill>
              </a:rPr>
              <a:t> – Log ingestion APIs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Elasticsearch</a:t>
            </a:r>
            <a:r>
              <a:rPr lang="en-IN" sz="2000" dirty="0">
                <a:solidFill>
                  <a:schemeClr val="bg1"/>
                </a:solidFill>
              </a:rPr>
              <a:t> – Storage &amp; search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Kibana</a:t>
            </a:r>
            <a:r>
              <a:rPr lang="en-IN" sz="2000" dirty="0">
                <a:solidFill>
                  <a:schemeClr val="bg1"/>
                </a:solidFill>
              </a:rPr>
              <a:t> – Visualization dashboard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Logstash / Python</a:t>
            </a:r>
            <a:r>
              <a:rPr lang="en-IN" sz="2000" dirty="0">
                <a:solidFill>
                  <a:schemeClr val="bg1"/>
                </a:solidFill>
              </a:rPr>
              <a:t> – Log processing</a:t>
            </a:r>
          </a:p>
          <a:p>
            <a:br>
              <a:rPr lang="en-IN" sz="2000" dirty="0">
                <a:solidFill>
                  <a:schemeClr val="bg1"/>
                </a:solidFill>
              </a:rPr>
            </a:br>
            <a:endParaRPr lang="en-IN" sz="2000" dirty="0">
              <a:solidFill>
                <a:schemeClr val="bg1"/>
              </a:solidFill>
            </a:endParaRPr>
          </a:p>
        </p:txBody>
      </p:sp>
      <p:grpSp>
        <p:nvGrpSpPr>
          <p:cNvPr id="21" name="Group 21"/>
          <p:cNvGrpSpPr/>
          <p:nvPr/>
        </p:nvGrpSpPr>
        <p:grpSpPr>
          <a:xfrm>
            <a:off x="6132071" y="1669799"/>
            <a:ext cx="5767835" cy="3500123"/>
            <a:chOff x="0" y="0"/>
            <a:chExt cx="7690447" cy="4666831"/>
          </a:xfrm>
        </p:grpSpPr>
        <p:sp>
          <p:nvSpPr>
            <p:cNvPr id="22" name="Freeform 22"/>
            <p:cNvSpPr/>
            <p:nvPr/>
          </p:nvSpPr>
          <p:spPr>
            <a:xfrm>
              <a:off x="16891" y="16891"/>
              <a:ext cx="7656576" cy="4632960"/>
            </a:xfrm>
            <a:custGeom>
              <a:avLst/>
              <a:gdLst/>
              <a:ahLst/>
              <a:cxnLst/>
              <a:rect l="l" t="t" r="r" b="b"/>
              <a:pathLst>
                <a:path w="7656576" h="4632960">
                  <a:moveTo>
                    <a:pt x="0" y="0"/>
                  </a:moveTo>
                  <a:lnTo>
                    <a:pt x="7656576" y="0"/>
                  </a:lnTo>
                  <a:lnTo>
                    <a:pt x="7656576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0" y="0"/>
              <a:ext cx="7690358" cy="4666742"/>
            </a:xfrm>
            <a:custGeom>
              <a:avLst/>
              <a:gdLst/>
              <a:ahLst/>
              <a:cxnLst/>
              <a:rect l="l" t="t" r="r" b="b"/>
              <a:pathLst>
                <a:path w="7690358" h="4666742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4649851"/>
                  </a:lnTo>
                  <a:cubicBezTo>
                    <a:pt x="7690358" y="4659249"/>
                    <a:pt x="7682738" y="4666742"/>
                    <a:pt x="7673467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673467" y="4632960"/>
                  </a:lnTo>
                  <a:lnTo>
                    <a:pt x="7673467" y="4649851"/>
                  </a:lnTo>
                  <a:lnTo>
                    <a:pt x="7656576" y="4649851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24" name="Group 24"/>
          <p:cNvGrpSpPr/>
          <p:nvPr/>
        </p:nvGrpSpPr>
        <p:grpSpPr>
          <a:xfrm>
            <a:off x="6132071" y="1669799"/>
            <a:ext cx="5767835" cy="647195"/>
            <a:chOff x="0" y="0"/>
            <a:chExt cx="7690447" cy="862927"/>
          </a:xfrm>
        </p:grpSpPr>
        <p:sp>
          <p:nvSpPr>
            <p:cNvPr id="25" name="Freeform 25"/>
            <p:cNvSpPr/>
            <p:nvPr/>
          </p:nvSpPr>
          <p:spPr>
            <a:xfrm>
              <a:off x="16891" y="16891"/>
              <a:ext cx="7656576" cy="829056"/>
            </a:xfrm>
            <a:custGeom>
              <a:avLst/>
              <a:gdLst/>
              <a:ahLst/>
              <a:cxnLst/>
              <a:rect l="l" t="t" r="r" b="b"/>
              <a:pathLst>
                <a:path w="7656576" h="829056">
                  <a:moveTo>
                    <a:pt x="0" y="0"/>
                  </a:moveTo>
                  <a:lnTo>
                    <a:pt x="7656576" y="0"/>
                  </a:lnTo>
                  <a:lnTo>
                    <a:pt x="765657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7690358" cy="862840"/>
            </a:xfrm>
            <a:custGeom>
              <a:avLst/>
              <a:gdLst/>
              <a:ahLst/>
              <a:cxnLst/>
              <a:rect l="l" t="t" r="r" b="b"/>
              <a:pathLst>
                <a:path w="7690358" h="862840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845947"/>
                  </a:lnTo>
                  <a:cubicBezTo>
                    <a:pt x="7690358" y="855345"/>
                    <a:pt x="7682738" y="862838"/>
                    <a:pt x="7673467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7673467" y="829056"/>
                  </a:lnTo>
                  <a:lnTo>
                    <a:pt x="7673467" y="845947"/>
                  </a:lnTo>
                  <a:lnTo>
                    <a:pt x="7656576" y="845947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27" name="Group 27"/>
          <p:cNvGrpSpPr/>
          <p:nvPr/>
        </p:nvGrpSpPr>
        <p:grpSpPr>
          <a:xfrm>
            <a:off x="6254496" y="1682496"/>
            <a:ext cx="5522976" cy="621792"/>
            <a:chOff x="0" y="0"/>
            <a:chExt cx="7363968" cy="829056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7363968" cy="829056"/>
            </a:xfrm>
            <a:custGeom>
              <a:avLst/>
              <a:gdLst/>
              <a:ahLst/>
              <a:cxnLst/>
              <a:rect l="l" t="t" r="r" b="b"/>
              <a:pathLst>
                <a:path w="7363968" h="829056">
                  <a:moveTo>
                    <a:pt x="0" y="0"/>
                  </a:moveTo>
                  <a:lnTo>
                    <a:pt x="7363968" y="0"/>
                  </a:lnTo>
                  <a:lnTo>
                    <a:pt x="73639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072" b="-12307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7363968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LLM &amp; AI Layer</a:t>
              </a:r>
            </a:p>
          </p:txBody>
        </p:sp>
      </p:grpSp>
      <p:sp>
        <p:nvSpPr>
          <p:cNvPr id="30" name="TextBox 30"/>
          <p:cNvSpPr txBox="1"/>
          <p:nvPr/>
        </p:nvSpPr>
        <p:spPr>
          <a:xfrm>
            <a:off x="6254501" y="2868044"/>
            <a:ext cx="552297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GPT-4o / Gemini</a:t>
            </a:r>
            <a:r>
              <a:rPr lang="en-IN" sz="2000" dirty="0">
                <a:solidFill>
                  <a:schemeClr val="bg1"/>
                </a:solidFill>
              </a:rPr>
              <a:t> – Threat reasoning</a:t>
            </a:r>
          </a:p>
          <a:p>
            <a:r>
              <a:rPr lang="en-IN" sz="2000" b="1" dirty="0" err="1">
                <a:solidFill>
                  <a:schemeClr val="bg1"/>
                </a:solidFill>
              </a:rPr>
              <a:t>LangChain</a:t>
            </a:r>
            <a:r>
              <a:rPr lang="en-IN" sz="2000" dirty="0">
                <a:solidFill>
                  <a:schemeClr val="bg1"/>
                </a:solidFill>
              </a:rPr>
              <a:t> – Workflow orchestration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FAISS / </a:t>
            </a:r>
            <a:r>
              <a:rPr lang="en-IN" sz="2000" b="1" dirty="0" err="1">
                <a:solidFill>
                  <a:schemeClr val="bg1"/>
                </a:solidFill>
              </a:rPr>
              <a:t>ChromaDB</a:t>
            </a:r>
            <a:r>
              <a:rPr lang="en-IN" sz="2000" dirty="0">
                <a:solidFill>
                  <a:schemeClr val="bg1"/>
                </a:solidFill>
              </a:rPr>
              <a:t> – Vector storage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Sentence Transformers</a:t>
            </a:r>
            <a:r>
              <a:rPr lang="en-IN" sz="2000" dirty="0">
                <a:solidFill>
                  <a:schemeClr val="bg1"/>
                </a:solidFill>
              </a:rPr>
              <a:t> – Embeddings</a:t>
            </a:r>
          </a:p>
        </p:txBody>
      </p:sp>
      <p:grpSp>
        <p:nvGrpSpPr>
          <p:cNvPr id="31" name="Group 31"/>
          <p:cNvGrpSpPr/>
          <p:nvPr/>
        </p:nvGrpSpPr>
        <p:grpSpPr>
          <a:xfrm>
            <a:off x="12093959" y="1669799"/>
            <a:ext cx="5767835" cy="3500123"/>
            <a:chOff x="0" y="0"/>
            <a:chExt cx="7690447" cy="4666831"/>
          </a:xfrm>
        </p:grpSpPr>
        <p:sp>
          <p:nvSpPr>
            <p:cNvPr id="32" name="Freeform 32"/>
            <p:cNvSpPr/>
            <p:nvPr/>
          </p:nvSpPr>
          <p:spPr>
            <a:xfrm>
              <a:off x="16891" y="16891"/>
              <a:ext cx="7656576" cy="4632960"/>
            </a:xfrm>
            <a:custGeom>
              <a:avLst/>
              <a:gdLst/>
              <a:ahLst/>
              <a:cxnLst/>
              <a:rect l="l" t="t" r="r" b="b"/>
              <a:pathLst>
                <a:path w="7656576" h="4632960">
                  <a:moveTo>
                    <a:pt x="0" y="0"/>
                  </a:moveTo>
                  <a:lnTo>
                    <a:pt x="7656576" y="0"/>
                  </a:lnTo>
                  <a:lnTo>
                    <a:pt x="7656576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33" name="Freeform 33"/>
            <p:cNvSpPr/>
            <p:nvPr/>
          </p:nvSpPr>
          <p:spPr>
            <a:xfrm>
              <a:off x="0" y="0"/>
              <a:ext cx="7690358" cy="4666742"/>
            </a:xfrm>
            <a:custGeom>
              <a:avLst/>
              <a:gdLst/>
              <a:ahLst/>
              <a:cxnLst/>
              <a:rect l="l" t="t" r="r" b="b"/>
              <a:pathLst>
                <a:path w="7690358" h="4666742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4649851"/>
                  </a:lnTo>
                  <a:cubicBezTo>
                    <a:pt x="7690358" y="4659249"/>
                    <a:pt x="7682738" y="4666742"/>
                    <a:pt x="7673467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673467" y="4632960"/>
                  </a:lnTo>
                  <a:lnTo>
                    <a:pt x="7673467" y="4649851"/>
                  </a:lnTo>
                  <a:lnTo>
                    <a:pt x="7656576" y="4649851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34" name="Group 34"/>
          <p:cNvGrpSpPr/>
          <p:nvPr/>
        </p:nvGrpSpPr>
        <p:grpSpPr>
          <a:xfrm>
            <a:off x="12093959" y="1669799"/>
            <a:ext cx="5767835" cy="647195"/>
            <a:chOff x="0" y="0"/>
            <a:chExt cx="7690447" cy="862927"/>
          </a:xfrm>
        </p:grpSpPr>
        <p:sp>
          <p:nvSpPr>
            <p:cNvPr id="35" name="Freeform 35"/>
            <p:cNvSpPr/>
            <p:nvPr/>
          </p:nvSpPr>
          <p:spPr>
            <a:xfrm>
              <a:off x="16891" y="16891"/>
              <a:ext cx="7656576" cy="829056"/>
            </a:xfrm>
            <a:custGeom>
              <a:avLst/>
              <a:gdLst/>
              <a:ahLst/>
              <a:cxnLst/>
              <a:rect l="l" t="t" r="r" b="b"/>
              <a:pathLst>
                <a:path w="7656576" h="829056">
                  <a:moveTo>
                    <a:pt x="0" y="0"/>
                  </a:moveTo>
                  <a:lnTo>
                    <a:pt x="7656576" y="0"/>
                  </a:lnTo>
                  <a:lnTo>
                    <a:pt x="765657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36" name="Freeform 36"/>
            <p:cNvSpPr/>
            <p:nvPr/>
          </p:nvSpPr>
          <p:spPr>
            <a:xfrm>
              <a:off x="0" y="0"/>
              <a:ext cx="7690358" cy="862840"/>
            </a:xfrm>
            <a:custGeom>
              <a:avLst/>
              <a:gdLst/>
              <a:ahLst/>
              <a:cxnLst/>
              <a:rect l="l" t="t" r="r" b="b"/>
              <a:pathLst>
                <a:path w="7690358" h="862840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845947"/>
                  </a:lnTo>
                  <a:cubicBezTo>
                    <a:pt x="7690358" y="855345"/>
                    <a:pt x="7682738" y="862838"/>
                    <a:pt x="7673467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7673467" y="829056"/>
                  </a:lnTo>
                  <a:lnTo>
                    <a:pt x="7673467" y="845947"/>
                  </a:lnTo>
                  <a:lnTo>
                    <a:pt x="7656576" y="845947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37" name="Group 37"/>
          <p:cNvGrpSpPr/>
          <p:nvPr/>
        </p:nvGrpSpPr>
        <p:grpSpPr>
          <a:xfrm>
            <a:off x="12216384" y="1682496"/>
            <a:ext cx="5522976" cy="621792"/>
            <a:chOff x="0" y="0"/>
            <a:chExt cx="7363968" cy="829056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7363968" cy="829056"/>
            </a:xfrm>
            <a:custGeom>
              <a:avLst/>
              <a:gdLst/>
              <a:ahLst/>
              <a:cxnLst/>
              <a:rect l="l" t="t" r="r" b="b"/>
              <a:pathLst>
                <a:path w="7363968" h="829056">
                  <a:moveTo>
                    <a:pt x="0" y="0"/>
                  </a:moveTo>
                  <a:lnTo>
                    <a:pt x="7363968" y="0"/>
                  </a:lnTo>
                  <a:lnTo>
                    <a:pt x="73639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072" b="-123072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-9525"/>
              <a:ext cx="7363968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Threat Intelligence</a:t>
              </a: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2216384" y="2868044"/>
            <a:ext cx="5522976" cy="26429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MITRE ATT&amp;CK Navigator — attack mapping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STIX / TAXII — standardized CTI exchange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NVD / CVE feeds — vulnerability enrichment</a:t>
            </a:r>
          </a:p>
          <a:p>
            <a:pPr algn="l">
              <a:lnSpc>
                <a:spcPts val="2400"/>
              </a:lnSpc>
            </a:pPr>
            <a:r>
              <a:rPr lang="en-US" sz="2000" dirty="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Sigma Rules — detection rule conversion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170183" y="5363975"/>
            <a:ext cx="5767835" cy="3500123"/>
            <a:chOff x="0" y="0"/>
            <a:chExt cx="7690447" cy="4666831"/>
          </a:xfrm>
        </p:grpSpPr>
        <p:sp>
          <p:nvSpPr>
            <p:cNvPr id="42" name="Freeform 42"/>
            <p:cNvSpPr/>
            <p:nvPr/>
          </p:nvSpPr>
          <p:spPr>
            <a:xfrm>
              <a:off x="16891" y="16891"/>
              <a:ext cx="7656576" cy="4632960"/>
            </a:xfrm>
            <a:custGeom>
              <a:avLst/>
              <a:gdLst/>
              <a:ahLst/>
              <a:cxnLst/>
              <a:rect l="l" t="t" r="r" b="b"/>
              <a:pathLst>
                <a:path w="7656576" h="4632960">
                  <a:moveTo>
                    <a:pt x="0" y="0"/>
                  </a:moveTo>
                  <a:lnTo>
                    <a:pt x="7656576" y="0"/>
                  </a:lnTo>
                  <a:lnTo>
                    <a:pt x="7656576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43" name="Freeform 43"/>
            <p:cNvSpPr/>
            <p:nvPr/>
          </p:nvSpPr>
          <p:spPr>
            <a:xfrm>
              <a:off x="0" y="0"/>
              <a:ext cx="7690358" cy="4666742"/>
            </a:xfrm>
            <a:custGeom>
              <a:avLst/>
              <a:gdLst/>
              <a:ahLst/>
              <a:cxnLst/>
              <a:rect l="l" t="t" r="r" b="b"/>
              <a:pathLst>
                <a:path w="7690358" h="4666742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4649851"/>
                  </a:lnTo>
                  <a:cubicBezTo>
                    <a:pt x="7690358" y="4659249"/>
                    <a:pt x="7682738" y="4666742"/>
                    <a:pt x="7673467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673467" y="4632960"/>
                  </a:lnTo>
                  <a:lnTo>
                    <a:pt x="7673467" y="4649851"/>
                  </a:lnTo>
                  <a:lnTo>
                    <a:pt x="7656576" y="4649851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44" name="Group 44"/>
          <p:cNvGrpSpPr/>
          <p:nvPr/>
        </p:nvGrpSpPr>
        <p:grpSpPr>
          <a:xfrm>
            <a:off x="170183" y="5363975"/>
            <a:ext cx="5767835" cy="647195"/>
            <a:chOff x="0" y="0"/>
            <a:chExt cx="7690447" cy="862927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7656576" cy="829056"/>
            </a:xfrm>
            <a:custGeom>
              <a:avLst/>
              <a:gdLst/>
              <a:ahLst/>
              <a:cxnLst/>
              <a:rect l="l" t="t" r="r" b="b"/>
              <a:pathLst>
                <a:path w="7656576" h="829056">
                  <a:moveTo>
                    <a:pt x="0" y="0"/>
                  </a:moveTo>
                  <a:lnTo>
                    <a:pt x="7656576" y="0"/>
                  </a:lnTo>
                  <a:lnTo>
                    <a:pt x="765657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7690358" cy="862840"/>
            </a:xfrm>
            <a:custGeom>
              <a:avLst/>
              <a:gdLst/>
              <a:ahLst/>
              <a:cxnLst/>
              <a:rect l="l" t="t" r="r" b="b"/>
              <a:pathLst>
                <a:path w="7690358" h="862840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845947"/>
                  </a:lnTo>
                  <a:cubicBezTo>
                    <a:pt x="7690358" y="855345"/>
                    <a:pt x="7682738" y="862838"/>
                    <a:pt x="7673467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7673467" y="829056"/>
                  </a:lnTo>
                  <a:lnTo>
                    <a:pt x="7673467" y="845947"/>
                  </a:lnTo>
                  <a:lnTo>
                    <a:pt x="7656576" y="845947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292608" y="5376672"/>
            <a:ext cx="5522976" cy="621792"/>
            <a:chOff x="0" y="0"/>
            <a:chExt cx="7363968" cy="829056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63968" cy="829056"/>
            </a:xfrm>
            <a:custGeom>
              <a:avLst/>
              <a:gdLst/>
              <a:ahLst/>
              <a:cxnLst/>
              <a:rect l="l" t="t" r="r" b="b"/>
              <a:pathLst>
                <a:path w="7363968" h="829056">
                  <a:moveTo>
                    <a:pt x="0" y="0"/>
                  </a:moveTo>
                  <a:lnTo>
                    <a:pt x="7363968" y="0"/>
                  </a:lnTo>
                  <a:lnTo>
                    <a:pt x="73639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072" b="-123072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363968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Log Generation &amp; Testing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496824" y="6762626"/>
            <a:ext cx="552297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Faker + Python</a:t>
            </a:r>
            <a:r>
              <a:rPr lang="en-IN" sz="2000" dirty="0">
                <a:solidFill>
                  <a:schemeClr val="bg1"/>
                </a:solidFill>
              </a:rPr>
              <a:t> – Synthetic logs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Syslog / JSON</a:t>
            </a:r>
            <a:r>
              <a:rPr lang="en-IN" sz="2000" dirty="0">
                <a:solidFill>
                  <a:schemeClr val="bg1"/>
                </a:solidFill>
              </a:rPr>
              <a:t> – Log formats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Docker</a:t>
            </a:r>
            <a:r>
              <a:rPr lang="en-IN" sz="2000" dirty="0">
                <a:solidFill>
                  <a:schemeClr val="bg1"/>
                </a:solidFill>
              </a:rPr>
              <a:t> – Isolated testing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Metasploit</a:t>
            </a:r>
            <a:r>
              <a:rPr lang="en-IN" sz="2000" dirty="0">
                <a:solidFill>
                  <a:schemeClr val="bg1"/>
                </a:solidFill>
              </a:rPr>
              <a:t> – Attack scenarios</a:t>
            </a:r>
          </a:p>
        </p:txBody>
      </p:sp>
      <p:grpSp>
        <p:nvGrpSpPr>
          <p:cNvPr id="51" name="Group 51"/>
          <p:cNvGrpSpPr/>
          <p:nvPr/>
        </p:nvGrpSpPr>
        <p:grpSpPr>
          <a:xfrm>
            <a:off x="6132071" y="5363975"/>
            <a:ext cx="5767835" cy="3500123"/>
            <a:chOff x="0" y="0"/>
            <a:chExt cx="7690447" cy="4666831"/>
          </a:xfrm>
        </p:grpSpPr>
        <p:sp>
          <p:nvSpPr>
            <p:cNvPr id="52" name="Freeform 52"/>
            <p:cNvSpPr/>
            <p:nvPr/>
          </p:nvSpPr>
          <p:spPr>
            <a:xfrm>
              <a:off x="16891" y="16891"/>
              <a:ext cx="7656576" cy="4632960"/>
            </a:xfrm>
            <a:custGeom>
              <a:avLst/>
              <a:gdLst/>
              <a:ahLst/>
              <a:cxnLst/>
              <a:rect l="l" t="t" r="r" b="b"/>
              <a:pathLst>
                <a:path w="7656576" h="4632960">
                  <a:moveTo>
                    <a:pt x="0" y="0"/>
                  </a:moveTo>
                  <a:lnTo>
                    <a:pt x="7656576" y="0"/>
                  </a:lnTo>
                  <a:lnTo>
                    <a:pt x="7656576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53" name="Freeform 53"/>
            <p:cNvSpPr/>
            <p:nvPr/>
          </p:nvSpPr>
          <p:spPr>
            <a:xfrm>
              <a:off x="0" y="0"/>
              <a:ext cx="7690358" cy="4666742"/>
            </a:xfrm>
            <a:custGeom>
              <a:avLst/>
              <a:gdLst/>
              <a:ahLst/>
              <a:cxnLst/>
              <a:rect l="l" t="t" r="r" b="b"/>
              <a:pathLst>
                <a:path w="7690358" h="4666742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4649851"/>
                  </a:lnTo>
                  <a:cubicBezTo>
                    <a:pt x="7690358" y="4659249"/>
                    <a:pt x="7682738" y="4666742"/>
                    <a:pt x="7673467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673467" y="4632960"/>
                  </a:lnTo>
                  <a:lnTo>
                    <a:pt x="7673467" y="4649851"/>
                  </a:lnTo>
                  <a:lnTo>
                    <a:pt x="7656576" y="4649851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4" name="Group 54"/>
          <p:cNvGrpSpPr/>
          <p:nvPr/>
        </p:nvGrpSpPr>
        <p:grpSpPr>
          <a:xfrm>
            <a:off x="6132071" y="5363975"/>
            <a:ext cx="5767835" cy="647195"/>
            <a:chOff x="0" y="0"/>
            <a:chExt cx="7690447" cy="862927"/>
          </a:xfrm>
        </p:grpSpPr>
        <p:sp>
          <p:nvSpPr>
            <p:cNvPr id="55" name="Freeform 55"/>
            <p:cNvSpPr/>
            <p:nvPr/>
          </p:nvSpPr>
          <p:spPr>
            <a:xfrm>
              <a:off x="16891" y="16891"/>
              <a:ext cx="7656576" cy="829056"/>
            </a:xfrm>
            <a:custGeom>
              <a:avLst/>
              <a:gdLst/>
              <a:ahLst/>
              <a:cxnLst/>
              <a:rect l="l" t="t" r="r" b="b"/>
              <a:pathLst>
                <a:path w="7656576" h="829056">
                  <a:moveTo>
                    <a:pt x="0" y="0"/>
                  </a:moveTo>
                  <a:lnTo>
                    <a:pt x="7656576" y="0"/>
                  </a:lnTo>
                  <a:lnTo>
                    <a:pt x="765657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56" name="Freeform 56"/>
            <p:cNvSpPr/>
            <p:nvPr/>
          </p:nvSpPr>
          <p:spPr>
            <a:xfrm>
              <a:off x="0" y="0"/>
              <a:ext cx="7690358" cy="862840"/>
            </a:xfrm>
            <a:custGeom>
              <a:avLst/>
              <a:gdLst/>
              <a:ahLst/>
              <a:cxnLst/>
              <a:rect l="l" t="t" r="r" b="b"/>
              <a:pathLst>
                <a:path w="7690358" h="862840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845947"/>
                  </a:lnTo>
                  <a:cubicBezTo>
                    <a:pt x="7690358" y="855345"/>
                    <a:pt x="7682738" y="862838"/>
                    <a:pt x="7673467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7673467" y="829056"/>
                  </a:lnTo>
                  <a:lnTo>
                    <a:pt x="7673467" y="845947"/>
                  </a:lnTo>
                  <a:lnTo>
                    <a:pt x="7656576" y="845947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7" name="Group 57"/>
          <p:cNvGrpSpPr/>
          <p:nvPr/>
        </p:nvGrpSpPr>
        <p:grpSpPr>
          <a:xfrm>
            <a:off x="6254496" y="5376672"/>
            <a:ext cx="5522976" cy="621792"/>
            <a:chOff x="0" y="0"/>
            <a:chExt cx="7363968" cy="829056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363968" cy="829056"/>
            </a:xfrm>
            <a:custGeom>
              <a:avLst/>
              <a:gdLst/>
              <a:ahLst/>
              <a:cxnLst/>
              <a:rect l="l" t="t" r="r" b="b"/>
              <a:pathLst>
                <a:path w="7363968" h="829056">
                  <a:moveTo>
                    <a:pt x="0" y="0"/>
                  </a:moveTo>
                  <a:lnTo>
                    <a:pt x="7363968" y="0"/>
                  </a:lnTo>
                  <a:lnTo>
                    <a:pt x="73639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072" b="-12307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9525"/>
              <a:ext cx="7363968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Development Tools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6324600" y="6775323"/>
            <a:ext cx="552297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Python 3.11, </a:t>
            </a:r>
            <a:r>
              <a:rPr lang="en-IN" sz="2000" b="1" dirty="0" err="1">
                <a:solidFill>
                  <a:schemeClr val="bg1"/>
                </a:solidFill>
              </a:rPr>
              <a:t>FastAPI</a:t>
            </a:r>
            <a:r>
              <a:rPr lang="en-IN" sz="2000" b="1" dirty="0">
                <a:solidFill>
                  <a:schemeClr val="bg1"/>
                </a:solidFill>
              </a:rPr>
              <a:t>, </a:t>
            </a:r>
            <a:r>
              <a:rPr lang="en-IN" sz="2000" b="1" dirty="0" err="1">
                <a:solidFill>
                  <a:schemeClr val="bg1"/>
                </a:solidFill>
              </a:rPr>
              <a:t>Uvicorn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 err="1">
                <a:solidFill>
                  <a:schemeClr val="bg1"/>
                </a:solidFill>
              </a:rPr>
              <a:t>Jupyter</a:t>
            </a:r>
            <a:r>
              <a:rPr lang="en-IN" sz="2000" b="1" dirty="0">
                <a:solidFill>
                  <a:schemeClr val="bg1"/>
                </a:solidFill>
              </a:rPr>
              <a:t> Notebook</a:t>
            </a:r>
            <a:r>
              <a:rPr lang="en-IN" sz="2000" dirty="0">
                <a:solidFill>
                  <a:schemeClr val="bg1"/>
                </a:solidFill>
              </a:rPr>
              <a:t> – Experiments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Git / GitHub</a:t>
            </a:r>
            <a:r>
              <a:rPr lang="en-IN" sz="2000" dirty="0">
                <a:solidFill>
                  <a:schemeClr val="bg1"/>
                </a:solidFill>
              </a:rPr>
              <a:t> – Version control</a:t>
            </a:r>
          </a:p>
          <a:p>
            <a:r>
              <a:rPr lang="en-IN" sz="2000" b="1" dirty="0">
                <a:solidFill>
                  <a:schemeClr val="bg1"/>
                </a:solidFill>
              </a:rPr>
              <a:t>VS Code, Postman</a:t>
            </a:r>
            <a:r>
              <a:rPr lang="en-IN" sz="2000" dirty="0">
                <a:solidFill>
                  <a:schemeClr val="bg1"/>
                </a:solidFill>
              </a:rPr>
              <a:t> – Development</a:t>
            </a:r>
          </a:p>
        </p:txBody>
      </p:sp>
      <p:grpSp>
        <p:nvGrpSpPr>
          <p:cNvPr id="61" name="Group 61"/>
          <p:cNvGrpSpPr/>
          <p:nvPr/>
        </p:nvGrpSpPr>
        <p:grpSpPr>
          <a:xfrm>
            <a:off x="12093959" y="5363975"/>
            <a:ext cx="5767835" cy="3500123"/>
            <a:chOff x="0" y="0"/>
            <a:chExt cx="7690447" cy="4666831"/>
          </a:xfrm>
        </p:grpSpPr>
        <p:sp>
          <p:nvSpPr>
            <p:cNvPr id="62" name="Freeform 62"/>
            <p:cNvSpPr/>
            <p:nvPr/>
          </p:nvSpPr>
          <p:spPr>
            <a:xfrm>
              <a:off x="16891" y="16891"/>
              <a:ext cx="7656576" cy="4632960"/>
            </a:xfrm>
            <a:custGeom>
              <a:avLst/>
              <a:gdLst/>
              <a:ahLst/>
              <a:cxnLst/>
              <a:rect l="l" t="t" r="r" b="b"/>
              <a:pathLst>
                <a:path w="7656576" h="4632960">
                  <a:moveTo>
                    <a:pt x="0" y="0"/>
                  </a:moveTo>
                  <a:lnTo>
                    <a:pt x="7656576" y="0"/>
                  </a:lnTo>
                  <a:lnTo>
                    <a:pt x="7656576" y="4632960"/>
                  </a:lnTo>
                  <a:lnTo>
                    <a:pt x="0" y="4632960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63" name="Freeform 63"/>
            <p:cNvSpPr/>
            <p:nvPr/>
          </p:nvSpPr>
          <p:spPr>
            <a:xfrm>
              <a:off x="0" y="0"/>
              <a:ext cx="7690358" cy="4666742"/>
            </a:xfrm>
            <a:custGeom>
              <a:avLst/>
              <a:gdLst/>
              <a:ahLst/>
              <a:cxnLst/>
              <a:rect l="l" t="t" r="r" b="b"/>
              <a:pathLst>
                <a:path w="7690358" h="4666742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4649851"/>
                  </a:lnTo>
                  <a:cubicBezTo>
                    <a:pt x="7690358" y="4659249"/>
                    <a:pt x="7682738" y="4666742"/>
                    <a:pt x="7673467" y="4666742"/>
                  </a:cubicBezTo>
                  <a:lnTo>
                    <a:pt x="16891" y="4666742"/>
                  </a:lnTo>
                  <a:cubicBezTo>
                    <a:pt x="7493" y="4666742"/>
                    <a:pt x="0" y="4659122"/>
                    <a:pt x="0" y="4649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4649851"/>
                  </a:lnTo>
                  <a:lnTo>
                    <a:pt x="16891" y="4649851"/>
                  </a:lnTo>
                  <a:lnTo>
                    <a:pt x="16891" y="4632960"/>
                  </a:lnTo>
                  <a:lnTo>
                    <a:pt x="7673467" y="4632960"/>
                  </a:lnTo>
                  <a:lnTo>
                    <a:pt x="7673467" y="4649851"/>
                  </a:lnTo>
                  <a:lnTo>
                    <a:pt x="7656576" y="4649851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64" name="Group 64"/>
          <p:cNvGrpSpPr/>
          <p:nvPr/>
        </p:nvGrpSpPr>
        <p:grpSpPr>
          <a:xfrm>
            <a:off x="12093959" y="5363975"/>
            <a:ext cx="5767835" cy="647195"/>
            <a:chOff x="0" y="0"/>
            <a:chExt cx="7690447" cy="862927"/>
          </a:xfrm>
        </p:grpSpPr>
        <p:sp>
          <p:nvSpPr>
            <p:cNvPr id="65" name="Freeform 65"/>
            <p:cNvSpPr/>
            <p:nvPr/>
          </p:nvSpPr>
          <p:spPr>
            <a:xfrm>
              <a:off x="16891" y="16891"/>
              <a:ext cx="7656576" cy="829056"/>
            </a:xfrm>
            <a:custGeom>
              <a:avLst/>
              <a:gdLst/>
              <a:ahLst/>
              <a:cxnLst/>
              <a:rect l="l" t="t" r="r" b="b"/>
              <a:pathLst>
                <a:path w="7656576" h="829056">
                  <a:moveTo>
                    <a:pt x="0" y="0"/>
                  </a:moveTo>
                  <a:lnTo>
                    <a:pt x="7656576" y="0"/>
                  </a:lnTo>
                  <a:lnTo>
                    <a:pt x="7656576" y="829056"/>
                  </a:lnTo>
                  <a:lnTo>
                    <a:pt x="0" y="829056"/>
                  </a:lnTo>
                  <a:close/>
                </a:path>
              </a:pathLst>
            </a:custGeom>
            <a:solidFill>
              <a:srgbClr val="5C2800"/>
            </a:solidFill>
          </p:spPr>
        </p:sp>
        <p:sp>
          <p:nvSpPr>
            <p:cNvPr id="66" name="Freeform 66"/>
            <p:cNvSpPr/>
            <p:nvPr/>
          </p:nvSpPr>
          <p:spPr>
            <a:xfrm>
              <a:off x="0" y="0"/>
              <a:ext cx="7690358" cy="862840"/>
            </a:xfrm>
            <a:custGeom>
              <a:avLst/>
              <a:gdLst/>
              <a:ahLst/>
              <a:cxnLst/>
              <a:rect l="l" t="t" r="r" b="b"/>
              <a:pathLst>
                <a:path w="7690358" h="862840">
                  <a:moveTo>
                    <a:pt x="16891" y="0"/>
                  </a:moveTo>
                  <a:lnTo>
                    <a:pt x="7673467" y="0"/>
                  </a:lnTo>
                  <a:cubicBezTo>
                    <a:pt x="7682865" y="0"/>
                    <a:pt x="7690358" y="7620"/>
                    <a:pt x="7690358" y="16891"/>
                  </a:cubicBezTo>
                  <a:lnTo>
                    <a:pt x="7690358" y="845947"/>
                  </a:lnTo>
                  <a:cubicBezTo>
                    <a:pt x="7690358" y="855345"/>
                    <a:pt x="7682738" y="862838"/>
                    <a:pt x="7673467" y="862838"/>
                  </a:cubicBezTo>
                  <a:lnTo>
                    <a:pt x="16891" y="862838"/>
                  </a:lnTo>
                  <a:cubicBezTo>
                    <a:pt x="7620" y="862965"/>
                    <a:pt x="0" y="855345"/>
                    <a:pt x="0" y="845947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45947"/>
                  </a:lnTo>
                  <a:lnTo>
                    <a:pt x="16891" y="845947"/>
                  </a:lnTo>
                  <a:lnTo>
                    <a:pt x="16891" y="829056"/>
                  </a:lnTo>
                  <a:lnTo>
                    <a:pt x="7673467" y="829056"/>
                  </a:lnTo>
                  <a:lnTo>
                    <a:pt x="7673467" y="845947"/>
                  </a:lnTo>
                  <a:lnTo>
                    <a:pt x="7656576" y="845947"/>
                  </a:lnTo>
                  <a:lnTo>
                    <a:pt x="7656576" y="16891"/>
                  </a:lnTo>
                  <a:lnTo>
                    <a:pt x="7673467" y="16891"/>
                  </a:lnTo>
                  <a:lnTo>
                    <a:pt x="7673467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67" name="Group 67"/>
          <p:cNvGrpSpPr/>
          <p:nvPr/>
        </p:nvGrpSpPr>
        <p:grpSpPr>
          <a:xfrm>
            <a:off x="12216384" y="5376672"/>
            <a:ext cx="5522976" cy="621792"/>
            <a:chOff x="0" y="0"/>
            <a:chExt cx="7363968" cy="829056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7363968" cy="829056"/>
            </a:xfrm>
            <a:custGeom>
              <a:avLst/>
              <a:gdLst/>
              <a:ahLst/>
              <a:cxnLst/>
              <a:rect l="l" t="t" r="r" b="b"/>
              <a:pathLst>
                <a:path w="7363968" h="829056">
                  <a:moveTo>
                    <a:pt x="0" y="0"/>
                  </a:moveTo>
                  <a:lnTo>
                    <a:pt x="7363968" y="0"/>
                  </a:lnTo>
                  <a:lnTo>
                    <a:pt x="7363968" y="829056"/>
                  </a:lnTo>
                  <a:lnTo>
                    <a:pt x="0" y="82905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23072" b="-123072"/>
              </a:stretch>
            </a:blipFill>
          </p:spPr>
        </p:sp>
        <p:sp>
          <p:nvSpPr>
            <p:cNvPr id="69" name="TextBox 69"/>
            <p:cNvSpPr txBox="1"/>
            <p:nvPr/>
          </p:nvSpPr>
          <p:spPr>
            <a:xfrm>
              <a:off x="0" y="-9525"/>
              <a:ext cx="7363968" cy="8385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640"/>
                </a:lnSpc>
              </a:pPr>
              <a:r>
                <a:rPr lang="en-US" sz="2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Evaluation Framework</a:t>
              </a:r>
            </a:p>
          </p:txBody>
        </p:sp>
      </p:grpSp>
      <p:sp>
        <p:nvSpPr>
          <p:cNvPr id="70" name="TextBox 70"/>
          <p:cNvSpPr txBox="1"/>
          <p:nvPr/>
        </p:nvSpPr>
        <p:spPr>
          <a:xfrm>
            <a:off x="12384024" y="6775323"/>
            <a:ext cx="5522976" cy="1231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000" b="1" dirty="0">
                <a:solidFill>
                  <a:schemeClr val="bg1"/>
                </a:solidFill>
              </a:rPr>
              <a:t>Precision, Recall, F1 Score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False Positive Rate ↓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MTTR (Response Time)</a:t>
            </a:r>
            <a:endParaRPr lang="en-IN" sz="2000" dirty="0">
              <a:solidFill>
                <a:schemeClr val="bg1"/>
              </a:solidFill>
            </a:endParaRPr>
          </a:p>
          <a:p>
            <a:r>
              <a:rPr lang="en-IN" sz="2000" b="1" dirty="0">
                <a:solidFill>
                  <a:schemeClr val="bg1"/>
                </a:solidFill>
              </a:rPr>
              <a:t>Confusion Matrix Analysis</a:t>
            </a:r>
            <a:endParaRPr lang="en-IN" sz="20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r>
                <a:rPr lang="en-IN" sz="6600" b="1" dirty="0">
                  <a:solidFill>
                    <a:schemeClr val="bg1"/>
                  </a:solidFill>
                  <a:latin typeface="Georgia Bold"/>
                  <a:sym typeface="Georgia Bold"/>
                </a:rPr>
                <a:t>		</a:t>
              </a:r>
              <a:r>
                <a:rPr lang="en-US" sz="6600" b="1" dirty="0">
                  <a:solidFill>
                    <a:srgbClr val="D4870A"/>
                  </a:solidFill>
                  <a:latin typeface="Georgia Bold"/>
                  <a:sym typeface="Georgia Bold"/>
                </a:rPr>
                <a:t>S</a:t>
              </a:r>
              <a:r>
                <a:rPr lang="en-US" sz="6600" b="1" dirty="0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ystem Performance &amp; Impact</a:t>
              </a:r>
              <a:endParaRPr lang="en-IN" sz="66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45536" y="1682496"/>
            <a:ext cx="14721840" cy="548640"/>
            <a:chOff x="0" y="0"/>
            <a:chExt cx="1962912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>
                <a:lnSpc>
                  <a:spcPts val="3359"/>
                </a:lnSpc>
              </a:pPr>
              <a:r>
                <a:rPr lang="en-US" sz="2799" b="1" dirty="0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1. Alert Classification Accuracy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45536" y="2231136"/>
            <a:ext cx="14721840" cy="731520"/>
            <a:chOff x="0" y="0"/>
            <a:chExt cx="1962912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Target F1 score ≥ 92% on labelled alert dataset. Precision and recall both evaluated to minimise false negatives on true threats while reducing false alarms.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145536" y="3035808"/>
            <a:ext cx="14721840" cy="548640"/>
            <a:chOff x="0" y="0"/>
            <a:chExt cx="1962912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2. False Positive Reduction Rate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45536" y="3584448"/>
            <a:ext cx="14721840" cy="731520"/>
            <a:chOff x="0" y="0"/>
            <a:chExt cx="19629120" cy="9753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Target 60–75% reduction vs. baseline SIEM-only alerting. Validated through comparative testing on the same alert dataset with and without LLM contextualization.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45536" y="4389120"/>
            <a:ext cx="14721840" cy="548640"/>
            <a:chOff x="0" y="0"/>
            <a:chExt cx="196291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3. Mean Time To Respond (MTTR)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145536" y="4937760"/>
            <a:ext cx="14721840" cy="731520"/>
            <a:chOff x="0" y="0"/>
            <a:chExt cx="19629120" cy="9753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Target 33–68% MTTR improvement versus manual analyst triage — consistent with Reynolds (2025) and Mareedu (2025) benchmark values from reviewed literature.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45536" y="5742432"/>
            <a:ext cx="14721840" cy="548640"/>
            <a:chOff x="0" y="0"/>
            <a:chExt cx="1962912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4. Alert Processing Time Reduction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145536" y="6291072"/>
            <a:ext cx="14721840" cy="731520"/>
            <a:chOff x="0" y="0"/>
            <a:chExt cx="19629120" cy="975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Automated Tier-1 triage pipeline targets ~40% reduction in per-alert processing time compared to manual SOC analyst review without LLM assistance.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145536" y="7095744"/>
            <a:ext cx="14721840" cy="548640"/>
            <a:chOff x="0" y="0"/>
            <a:chExt cx="1962912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5. Analyst Workload Reduction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45536" y="7644384"/>
            <a:ext cx="14721840" cy="731520"/>
            <a:chOff x="0" y="0"/>
            <a:chExt cx="19629120" cy="9753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Target ≥ 39% analyst workload reduction (baseline from Reynolds, 2025 LLM-IRAgent evaluation) through automated alert contextualization and narrative generation.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45536" y="8449056"/>
            <a:ext cx="14721840" cy="548640"/>
            <a:chOff x="0" y="0"/>
            <a:chExt cx="1962912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6. Narrative Generation Latency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145536" y="8997696"/>
            <a:ext cx="14721840" cy="731520"/>
            <a:chOff x="0" y="0"/>
            <a:chExt cx="19629120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Target &lt; 3 seconds per alert for LLM attack narrative generation in the simulation environment — sufficient for real-time SOC analyst workflow integration.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Applications in Real World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29184" y="1682496"/>
            <a:ext cx="8631936" cy="512064"/>
            <a:chOff x="0" y="0"/>
            <a:chExt cx="11509248" cy="68275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Enterprise SOC Automation —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29184" y="2194560"/>
            <a:ext cx="8631936" cy="1316736"/>
            <a:chOff x="0" y="0"/>
            <a:chExt cx="11509248" cy="1755648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Large organizations with 24×7 SOCs deploy LLM-powered triage to reduce analyst burnout and accelerate critical incident response times.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29184" y="3621024"/>
            <a:ext cx="8631936" cy="512064"/>
            <a:chOff x="0" y="0"/>
            <a:chExt cx="11509248" cy="682752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Banking &amp; Financial Services —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29184" y="4133088"/>
            <a:ext cx="8631936" cy="1316736"/>
            <a:chOff x="0" y="0"/>
            <a:chExt cx="11509248" cy="1755648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Detects credential stuffing, fraudulent logins, and account takeover in real time. LLM narratives aid compliance and fraud investigation teams.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29184" y="5559552"/>
            <a:ext cx="8631936" cy="512064"/>
            <a:chOff x="0" y="0"/>
            <a:chExt cx="11509248" cy="682752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Healthcare &amp; Hospital Networks —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29184" y="6071616"/>
            <a:ext cx="8631936" cy="1316736"/>
            <a:chOff x="0" y="0"/>
            <a:chExt cx="11509248" cy="1755648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Monitors unauthorized EHR access (HIPAA). Contextualizes lateral movement across clinical systems; generates audit-ready incident reports automatically.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29184" y="7498080"/>
            <a:ext cx="8631936" cy="512064"/>
            <a:chOff x="0" y="0"/>
            <a:chExt cx="11509248" cy="68275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Cloud Security Operations —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29184" y="8010144"/>
            <a:ext cx="8631936" cy="1316736"/>
            <a:chOff x="0" y="0"/>
            <a:chExt cx="11509248" cy="1755648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Integrates with AWS Security Hub / Azure Sentinel to analyze cloud workload logs and detect misconfigurations or data exfiltration attempts at scale.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26880" y="1682496"/>
            <a:ext cx="8631936" cy="512064"/>
            <a:chOff x="0" y="0"/>
            <a:chExt cx="11509248" cy="682752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Critical Infrastructure (ICS/SCADA) —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326880" y="2194560"/>
            <a:ext cx="8631936" cy="1316736"/>
            <a:chOff x="0" y="0"/>
            <a:chExt cx="11509248" cy="1755648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MITRE ATT&amp;CK for ICS mapping identifies operational technology threats in industrial control systems beyond what signature-based tools can detect.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9326880" y="3621024"/>
            <a:ext cx="8631936" cy="512064"/>
            <a:chOff x="0" y="0"/>
            <a:chExt cx="11509248" cy="682752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Managed Security Providers (MSSP) —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326880" y="4133088"/>
            <a:ext cx="8631936" cy="1316736"/>
            <a:chOff x="0" y="0"/>
            <a:chExt cx="11509248" cy="1755648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MSSPs handling multiple clients leverage the platform to scale analyst capacity across all client environments without proportional headcount growth.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9326880" y="5559552"/>
            <a:ext cx="8631936" cy="512064"/>
            <a:chOff x="0" y="0"/>
            <a:chExt cx="11509248" cy="682752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Threat Hunting Teams —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9326880" y="6071616"/>
            <a:ext cx="8631936" cy="1316736"/>
            <a:chOff x="0" y="0"/>
            <a:chExt cx="11509248" cy="1755648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LLM-generated attack narratives and MITRE ATT&amp;CK mappings serve as structured starting points for proactive deep-dive threat hunting investigations.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9326880" y="7498080"/>
            <a:ext cx="8631936" cy="512064"/>
            <a:chOff x="0" y="0"/>
            <a:chExt cx="11509248" cy="682752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1509248" cy="682752"/>
            </a:xfrm>
            <a:custGeom>
              <a:avLst/>
              <a:gdLst/>
              <a:ahLst/>
              <a:cxnLst/>
              <a:rect l="l" t="t" r="r" b="b"/>
              <a:pathLst>
                <a:path w="11509248" h="682752">
                  <a:moveTo>
                    <a:pt x="0" y="0"/>
                  </a:moveTo>
                  <a:lnTo>
                    <a:pt x="11509248" y="0"/>
                  </a:lnTo>
                  <a:lnTo>
                    <a:pt x="11509248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78462" b="-278462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-19050"/>
              <a:ext cx="11509248" cy="70180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120"/>
                </a:lnSpc>
              </a:pPr>
              <a:r>
                <a:rPr lang="en-US" sz="2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Academic SOC Training Labs —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326880" y="8010144"/>
            <a:ext cx="8631936" cy="1316736"/>
            <a:chOff x="0" y="0"/>
            <a:chExt cx="11509248" cy="1755648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1509248" cy="1755648"/>
            </a:xfrm>
            <a:custGeom>
              <a:avLst/>
              <a:gdLst/>
              <a:ahLst/>
              <a:cxnLst/>
              <a:rect l="l" t="t" r="r" b="b"/>
              <a:pathLst>
                <a:path w="11509248" h="1755648">
                  <a:moveTo>
                    <a:pt x="0" y="0"/>
                  </a:moveTo>
                  <a:lnTo>
                    <a:pt x="11509248" y="0"/>
                  </a:lnTo>
                  <a:lnTo>
                    <a:pt x="11509248" y="1755648"/>
                  </a:lnTo>
                  <a:lnTo>
                    <a:pt x="0" y="17556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77735" b="-7773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1509248" cy="175564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879"/>
                </a:lnSpc>
              </a:pPr>
              <a:r>
                <a:rPr lang="en-US" sz="24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Provides a safe simulation environment for cybersecurity students to practice alert triage, threat analysis, and incident response with real LLM feedback.</a:t>
              </a:r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9" name="Freeform 9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0" name="Freeform 10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3" name="TextBox 13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329184" y="896312"/>
            <a:ext cx="8595360" cy="1024128"/>
            <a:chOff x="0" y="0"/>
            <a:chExt cx="11460480" cy="1365504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11460480" cy="1365504"/>
            </a:xfrm>
            <a:custGeom>
              <a:avLst/>
              <a:gdLst/>
              <a:ahLst/>
              <a:cxnLst/>
              <a:rect l="l" t="t" r="r" b="b"/>
              <a:pathLst>
                <a:path w="11460480" h="1365504">
                  <a:moveTo>
                    <a:pt x="0" y="0"/>
                  </a:moveTo>
                  <a:lnTo>
                    <a:pt x="11460480" y="0"/>
                  </a:lnTo>
                  <a:lnTo>
                    <a:pt x="11460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3535" b="-113535"/>
              </a:stretch>
            </a:blipFill>
          </p:spPr>
        </p:sp>
        <p:sp>
          <p:nvSpPr>
            <p:cNvPr id="16" name="TextBox 16"/>
            <p:cNvSpPr txBox="1"/>
            <p:nvPr/>
          </p:nvSpPr>
          <p:spPr>
            <a:xfrm>
              <a:off x="0" y="-9525"/>
              <a:ext cx="11460480" cy="1375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6119"/>
                </a:lnSpc>
              </a:pPr>
              <a:r>
                <a:rPr lang="en-US" sz="5099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Conclusions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29184" y="1645920"/>
            <a:ext cx="8595360" cy="8138160"/>
            <a:chOff x="0" y="0"/>
            <a:chExt cx="11460480" cy="1085088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1460480" cy="10850880"/>
            </a:xfrm>
            <a:custGeom>
              <a:avLst/>
              <a:gdLst/>
              <a:ahLst/>
              <a:cxnLst/>
              <a:rect l="l" t="t" r="r" b="b"/>
              <a:pathLst>
                <a:path w="11460480" h="10850880">
                  <a:moveTo>
                    <a:pt x="0" y="0"/>
                  </a:moveTo>
                  <a:lnTo>
                    <a:pt x="11460480" y="0"/>
                  </a:lnTo>
                  <a:lnTo>
                    <a:pt x="11460480" y="10850880"/>
                  </a:lnTo>
                  <a:lnTo>
                    <a:pt x="0" y="10850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1478" r="-71478"/>
              </a:stretch>
            </a:blipFill>
          </p:spPr>
        </p:sp>
        <p:sp>
          <p:nvSpPr>
            <p:cNvPr id="19" name="TextBox 19"/>
            <p:cNvSpPr txBox="1"/>
            <p:nvPr/>
          </p:nvSpPr>
          <p:spPr>
            <a:xfrm>
              <a:off x="0" y="-9525"/>
              <a:ext cx="11460480" cy="108604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This research demonstrates that the integration of LLMs into SOC workflows marks a critical transition from reactive, manual monitoring to proactive, intelligent defense. By automating the triage of security alerts, reducing false positives through contextual reasoning, and generating human-readable attack narratives mapped to the MITRE ATT&amp;CK framework, the system empowers SOC analysts to focus on genuinely critical threats.</a:t>
              </a:r>
            </a:p>
            <a:p>
              <a:pPr algn="l">
                <a:lnSpc>
                  <a:spcPts val="2999"/>
                </a:lnSpc>
              </a:pPr>
              <a:endParaRPr lang="en-US" sz="2499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endParaRPr>
            </a:p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The 8-module architecture provides a modular, extensible foundation. The system demonstrates meaningful MTTR improvements (33–68%) and false positive reductions (60–75%) within a controlled simulation, validating the core hypothesis that LLM-augmented SOC tooling can meaningfully address the chronic alert fatigue problem facing modern security operations teams.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167879" y="389639"/>
            <a:ext cx="8803643" cy="9498587"/>
            <a:chOff x="0" y="0"/>
            <a:chExt cx="11738191" cy="12664783"/>
          </a:xfrm>
        </p:grpSpPr>
        <p:sp>
          <p:nvSpPr>
            <p:cNvPr id="21" name="Freeform 21"/>
            <p:cNvSpPr/>
            <p:nvPr/>
          </p:nvSpPr>
          <p:spPr>
            <a:xfrm>
              <a:off x="16891" y="16891"/>
              <a:ext cx="11704320" cy="12630912"/>
            </a:xfrm>
            <a:custGeom>
              <a:avLst/>
              <a:gdLst/>
              <a:ahLst/>
              <a:cxnLst/>
              <a:rect l="l" t="t" r="r" b="b"/>
              <a:pathLst>
                <a:path w="11704320" h="12630912">
                  <a:moveTo>
                    <a:pt x="0" y="0"/>
                  </a:moveTo>
                  <a:lnTo>
                    <a:pt x="11704320" y="0"/>
                  </a:lnTo>
                  <a:lnTo>
                    <a:pt x="11704320" y="12630912"/>
                  </a:lnTo>
                  <a:lnTo>
                    <a:pt x="0" y="12630912"/>
                  </a:lnTo>
                  <a:close/>
                </a:path>
              </a:pathLst>
            </a:custGeom>
            <a:solidFill>
              <a:srgbClr val="EBE4D8"/>
            </a:solidFill>
          </p:spPr>
        </p:sp>
        <p:sp>
          <p:nvSpPr>
            <p:cNvPr id="22" name="Freeform 22"/>
            <p:cNvSpPr/>
            <p:nvPr/>
          </p:nvSpPr>
          <p:spPr>
            <a:xfrm>
              <a:off x="0" y="0"/>
              <a:ext cx="11738101" cy="12664694"/>
            </a:xfrm>
            <a:custGeom>
              <a:avLst/>
              <a:gdLst/>
              <a:ahLst/>
              <a:cxnLst/>
              <a:rect l="l" t="t" r="r" b="b"/>
              <a:pathLst>
                <a:path w="11738101" h="12664694">
                  <a:moveTo>
                    <a:pt x="16891" y="0"/>
                  </a:moveTo>
                  <a:lnTo>
                    <a:pt x="11721211" y="0"/>
                  </a:lnTo>
                  <a:cubicBezTo>
                    <a:pt x="11730609" y="0"/>
                    <a:pt x="11738101" y="7620"/>
                    <a:pt x="11738101" y="16891"/>
                  </a:cubicBezTo>
                  <a:lnTo>
                    <a:pt x="11738101" y="12647803"/>
                  </a:lnTo>
                  <a:cubicBezTo>
                    <a:pt x="11738101" y="12657201"/>
                    <a:pt x="11730482" y="12664694"/>
                    <a:pt x="11721211" y="12664694"/>
                  </a:cubicBezTo>
                  <a:lnTo>
                    <a:pt x="16891" y="12664694"/>
                  </a:lnTo>
                  <a:cubicBezTo>
                    <a:pt x="7493" y="12664694"/>
                    <a:pt x="0" y="12657074"/>
                    <a:pt x="0" y="1264780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647803"/>
                  </a:lnTo>
                  <a:lnTo>
                    <a:pt x="16891" y="12647803"/>
                  </a:lnTo>
                  <a:lnTo>
                    <a:pt x="16891" y="12630912"/>
                  </a:lnTo>
                  <a:lnTo>
                    <a:pt x="11721211" y="12630912"/>
                  </a:lnTo>
                  <a:lnTo>
                    <a:pt x="11721211" y="12647803"/>
                  </a:lnTo>
                  <a:lnTo>
                    <a:pt x="11704320" y="12647803"/>
                  </a:lnTo>
                  <a:lnTo>
                    <a:pt x="11704320" y="16891"/>
                  </a:lnTo>
                  <a:lnTo>
                    <a:pt x="11721211" y="16891"/>
                  </a:lnTo>
                  <a:lnTo>
                    <a:pt x="11721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BE4D8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9954263" y="810263"/>
            <a:ext cx="7340603" cy="7340603"/>
            <a:chOff x="0" y="0"/>
            <a:chExt cx="9787471" cy="9787471"/>
          </a:xfrm>
        </p:grpSpPr>
        <p:sp>
          <p:nvSpPr>
            <p:cNvPr id="24" name="Freeform 24"/>
            <p:cNvSpPr/>
            <p:nvPr/>
          </p:nvSpPr>
          <p:spPr>
            <a:xfrm>
              <a:off x="16891" y="16891"/>
              <a:ext cx="9753600" cy="9753600"/>
            </a:xfrm>
            <a:custGeom>
              <a:avLst/>
              <a:gdLst/>
              <a:ahLst/>
              <a:cxnLst/>
              <a:rect l="l" t="t" r="r" b="b"/>
              <a:pathLst>
                <a:path w="9753600" h="9753600">
                  <a:moveTo>
                    <a:pt x="0" y="4876800"/>
                  </a:moveTo>
                  <a:cubicBezTo>
                    <a:pt x="0" y="2183384"/>
                    <a:pt x="2183384" y="0"/>
                    <a:pt x="4876800" y="0"/>
                  </a:cubicBezTo>
                  <a:cubicBezTo>
                    <a:pt x="7570216" y="0"/>
                    <a:pt x="9753600" y="2183384"/>
                    <a:pt x="9753600" y="4876800"/>
                  </a:cubicBezTo>
                  <a:cubicBezTo>
                    <a:pt x="9753600" y="7570216"/>
                    <a:pt x="7570216" y="9753600"/>
                    <a:pt x="4876800" y="9753600"/>
                  </a:cubicBezTo>
                  <a:cubicBezTo>
                    <a:pt x="2183384" y="9753600"/>
                    <a:pt x="0" y="7570216"/>
                    <a:pt x="0" y="4876800"/>
                  </a:cubicBezTo>
                  <a:close/>
                </a:path>
              </a:pathLst>
            </a:custGeom>
            <a:solidFill>
              <a:srgbClr val="D8D0C0"/>
            </a:solidFill>
          </p:spPr>
        </p:sp>
        <p:sp>
          <p:nvSpPr>
            <p:cNvPr id="25" name="Freeform 25"/>
            <p:cNvSpPr/>
            <p:nvPr/>
          </p:nvSpPr>
          <p:spPr>
            <a:xfrm>
              <a:off x="0" y="0"/>
              <a:ext cx="9787509" cy="9787382"/>
            </a:xfrm>
            <a:custGeom>
              <a:avLst/>
              <a:gdLst/>
              <a:ahLst/>
              <a:cxnLst/>
              <a:rect l="l" t="t" r="r" b="b"/>
              <a:pathLst>
                <a:path w="9787509" h="9787382">
                  <a:moveTo>
                    <a:pt x="0" y="4893691"/>
                  </a:moveTo>
                  <a:cubicBezTo>
                    <a:pt x="0" y="2191004"/>
                    <a:pt x="2191004" y="0"/>
                    <a:pt x="4893691" y="0"/>
                  </a:cubicBezTo>
                  <a:lnTo>
                    <a:pt x="4893691" y="16891"/>
                  </a:lnTo>
                  <a:lnTo>
                    <a:pt x="4893691" y="0"/>
                  </a:lnTo>
                  <a:cubicBezTo>
                    <a:pt x="7596505" y="0"/>
                    <a:pt x="9787509" y="2191004"/>
                    <a:pt x="9787509" y="4893691"/>
                  </a:cubicBezTo>
                  <a:lnTo>
                    <a:pt x="9770618" y="4893691"/>
                  </a:lnTo>
                  <a:lnTo>
                    <a:pt x="9787509" y="4893691"/>
                  </a:lnTo>
                  <a:cubicBezTo>
                    <a:pt x="9787509" y="7596378"/>
                    <a:pt x="7596505" y="9787382"/>
                    <a:pt x="4893818" y="9787382"/>
                  </a:cubicBezTo>
                  <a:lnTo>
                    <a:pt x="4893818" y="9770490"/>
                  </a:lnTo>
                  <a:lnTo>
                    <a:pt x="4893818" y="9787382"/>
                  </a:lnTo>
                  <a:cubicBezTo>
                    <a:pt x="2191004" y="9787509"/>
                    <a:pt x="0" y="7596505"/>
                    <a:pt x="0" y="4893691"/>
                  </a:cubicBezTo>
                  <a:lnTo>
                    <a:pt x="16891" y="4893691"/>
                  </a:lnTo>
                  <a:lnTo>
                    <a:pt x="33909" y="4893691"/>
                  </a:lnTo>
                  <a:lnTo>
                    <a:pt x="16891" y="4893691"/>
                  </a:lnTo>
                  <a:lnTo>
                    <a:pt x="0" y="4893691"/>
                  </a:lnTo>
                  <a:moveTo>
                    <a:pt x="33909" y="4893691"/>
                  </a:moveTo>
                  <a:cubicBezTo>
                    <a:pt x="33909" y="4903089"/>
                    <a:pt x="26289" y="4910582"/>
                    <a:pt x="17018" y="4910582"/>
                  </a:cubicBezTo>
                  <a:cubicBezTo>
                    <a:pt x="7747" y="4910582"/>
                    <a:pt x="0" y="4903089"/>
                    <a:pt x="0" y="4893691"/>
                  </a:cubicBezTo>
                  <a:cubicBezTo>
                    <a:pt x="0" y="4884293"/>
                    <a:pt x="7620" y="4876800"/>
                    <a:pt x="16891" y="4876800"/>
                  </a:cubicBezTo>
                  <a:cubicBezTo>
                    <a:pt x="26162" y="4876800"/>
                    <a:pt x="33782" y="4884420"/>
                    <a:pt x="33782" y="4893691"/>
                  </a:cubicBezTo>
                  <a:cubicBezTo>
                    <a:pt x="33909" y="7577709"/>
                    <a:pt x="2209673" y="9753600"/>
                    <a:pt x="4893691" y="9753600"/>
                  </a:cubicBezTo>
                  <a:cubicBezTo>
                    <a:pt x="7577709" y="9753600"/>
                    <a:pt x="9753600" y="7577709"/>
                    <a:pt x="9753600" y="4893691"/>
                  </a:cubicBezTo>
                  <a:cubicBezTo>
                    <a:pt x="9753600" y="2209673"/>
                    <a:pt x="7577709" y="33909"/>
                    <a:pt x="4893691" y="33909"/>
                  </a:cubicBezTo>
                  <a:lnTo>
                    <a:pt x="4893691" y="16891"/>
                  </a:lnTo>
                  <a:lnTo>
                    <a:pt x="4893691" y="33909"/>
                  </a:lnTo>
                  <a:cubicBezTo>
                    <a:pt x="2209673" y="33909"/>
                    <a:pt x="33909" y="2209673"/>
                    <a:pt x="33909" y="489369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26" name="Group 26"/>
          <p:cNvGrpSpPr/>
          <p:nvPr/>
        </p:nvGrpSpPr>
        <p:grpSpPr>
          <a:xfrm>
            <a:off x="14538998" y="3854358"/>
            <a:ext cx="2293115" cy="1525019"/>
            <a:chOff x="0" y="0"/>
            <a:chExt cx="3057487" cy="2033359"/>
          </a:xfrm>
        </p:grpSpPr>
        <p:sp>
          <p:nvSpPr>
            <p:cNvPr id="27" name="Freeform 27"/>
            <p:cNvSpPr/>
            <p:nvPr/>
          </p:nvSpPr>
          <p:spPr>
            <a:xfrm>
              <a:off x="16891" y="16891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999744"/>
                  </a:moveTo>
                  <a:cubicBezTo>
                    <a:pt x="0" y="447548"/>
                    <a:pt x="676910" y="0"/>
                    <a:pt x="1511808" y="0"/>
                  </a:cubicBezTo>
                  <a:cubicBezTo>
                    <a:pt x="2346706" y="0"/>
                    <a:pt x="3023616" y="447675"/>
                    <a:pt x="3023616" y="999744"/>
                  </a:cubicBezTo>
                  <a:cubicBezTo>
                    <a:pt x="3023616" y="1551813"/>
                    <a:pt x="2346706" y="1999488"/>
                    <a:pt x="1511808" y="1999488"/>
                  </a:cubicBezTo>
                  <a:cubicBezTo>
                    <a:pt x="676910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28" name="Freeform 28"/>
            <p:cNvSpPr/>
            <p:nvPr/>
          </p:nvSpPr>
          <p:spPr>
            <a:xfrm>
              <a:off x="0" y="0"/>
              <a:ext cx="3057525" cy="2033270"/>
            </a:xfrm>
            <a:custGeom>
              <a:avLst/>
              <a:gdLst/>
              <a:ahLst/>
              <a:cxnLst/>
              <a:rect l="l" t="t" r="r" b="b"/>
              <a:pathLst>
                <a:path w="3057525" h="2033270">
                  <a:moveTo>
                    <a:pt x="0" y="1016635"/>
                  </a:moveTo>
                  <a:cubicBezTo>
                    <a:pt x="0" y="449453"/>
                    <a:pt x="691515" y="0"/>
                    <a:pt x="1528699" y="0"/>
                  </a:cubicBezTo>
                  <a:cubicBezTo>
                    <a:pt x="2366010" y="0"/>
                    <a:pt x="3057525" y="449453"/>
                    <a:pt x="3057525" y="1016635"/>
                  </a:cubicBezTo>
                  <a:lnTo>
                    <a:pt x="3040634" y="1016635"/>
                  </a:lnTo>
                  <a:lnTo>
                    <a:pt x="3057525" y="1016635"/>
                  </a:lnTo>
                  <a:cubicBezTo>
                    <a:pt x="3057525" y="1583817"/>
                    <a:pt x="2366010" y="2033270"/>
                    <a:pt x="1528826" y="2033270"/>
                  </a:cubicBezTo>
                  <a:lnTo>
                    <a:pt x="1528826" y="2016379"/>
                  </a:lnTo>
                  <a:lnTo>
                    <a:pt x="1528826" y="2033270"/>
                  </a:lnTo>
                  <a:cubicBezTo>
                    <a:pt x="691515" y="2033397"/>
                    <a:pt x="0" y="1583944"/>
                    <a:pt x="0" y="1016635"/>
                  </a:cubicBezTo>
                  <a:lnTo>
                    <a:pt x="16891" y="1016635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0" y="1016635"/>
                  </a:lnTo>
                  <a:moveTo>
                    <a:pt x="33909" y="1016635"/>
                  </a:moveTo>
                  <a:cubicBezTo>
                    <a:pt x="33909" y="1026033"/>
                    <a:pt x="26289" y="1033526"/>
                    <a:pt x="17018" y="1033526"/>
                  </a:cubicBezTo>
                  <a:cubicBezTo>
                    <a:pt x="7747" y="1033526"/>
                    <a:pt x="0" y="1026033"/>
                    <a:pt x="0" y="1016635"/>
                  </a:cubicBezTo>
                  <a:cubicBezTo>
                    <a:pt x="0" y="1007237"/>
                    <a:pt x="7620" y="999744"/>
                    <a:pt x="16891" y="999744"/>
                  </a:cubicBezTo>
                  <a:cubicBezTo>
                    <a:pt x="26162" y="999744"/>
                    <a:pt x="33782" y="1007364"/>
                    <a:pt x="33782" y="1016635"/>
                  </a:cubicBezTo>
                  <a:cubicBezTo>
                    <a:pt x="33782" y="1553718"/>
                    <a:pt x="696087" y="1999488"/>
                    <a:pt x="1528699" y="1999488"/>
                  </a:cubicBezTo>
                  <a:cubicBezTo>
                    <a:pt x="2361311" y="1999488"/>
                    <a:pt x="3023616" y="1553718"/>
                    <a:pt x="3023616" y="1016635"/>
                  </a:cubicBezTo>
                  <a:cubicBezTo>
                    <a:pt x="3023616" y="479552"/>
                    <a:pt x="2361311" y="33782"/>
                    <a:pt x="1528699" y="33782"/>
                  </a:cubicBezTo>
                  <a:lnTo>
                    <a:pt x="1528699" y="16891"/>
                  </a:lnTo>
                  <a:lnTo>
                    <a:pt x="1528699" y="33909"/>
                  </a:lnTo>
                  <a:cubicBezTo>
                    <a:pt x="696087" y="33909"/>
                    <a:pt x="33909" y="479679"/>
                    <a:pt x="33909" y="1016635"/>
                  </a:cubicBezTo>
                  <a:close/>
                </a:path>
              </a:pathLst>
            </a:custGeom>
            <a:solidFill>
              <a:srgbClr val="2F5496"/>
            </a:solidFill>
          </p:spPr>
        </p:sp>
      </p:grpSp>
      <p:grpSp>
        <p:nvGrpSpPr>
          <p:cNvPr id="29" name="Group 29"/>
          <p:cNvGrpSpPr/>
          <p:nvPr/>
        </p:nvGrpSpPr>
        <p:grpSpPr>
          <a:xfrm>
            <a:off x="14564401" y="3730757"/>
            <a:ext cx="2267712" cy="1499616"/>
            <a:chOff x="0" y="0"/>
            <a:chExt cx="3023616" cy="1999488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0"/>
                  </a:moveTo>
                  <a:lnTo>
                    <a:pt x="3023616" y="0"/>
                  </a:lnTo>
                  <a:lnTo>
                    <a:pt x="302361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845" r="-34845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-9525"/>
              <a:ext cx="3023616" cy="2009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60–75%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FP Reduction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12433987" y="6065270"/>
            <a:ext cx="2293115" cy="1525019"/>
            <a:chOff x="0" y="0"/>
            <a:chExt cx="3057487" cy="2033359"/>
          </a:xfrm>
        </p:grpSpPr>
        <p:sp>
          <p:nvSpPr>
            <p:cNvPr id="33" name="Freeform 33"/>
            <p:cNvSpPr/>
            <p:nvPr/>
          </p:nvSpPr>
          <p:spPr>
            <a:xfrm>
              <a:off x="16891" y="16891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999744"/>
                  </a:moveTo>
                  <a:cubicBezTo>
                    <a:pt x="0" y="447548"/>
                    <a:pt x="676910" y="0"/>
                    <a:pt x="1511808" y="0"/>
                  </a:cubicBezTo>
                  <a:cubicBezTo>
                    <a:pt x="2346706" y="0"/>
                    <a:pt x="3023616" y="447675"/>
                    <a:pt x="3023616" y="999744"/>
                  </a:cubicBezTo>
                  <a:cubicBezTo>
                    <a:pt x="3023616" y="1551813"/>
                    <a:pt x="2346706" y="1999488"/>
                    <a:pt x="1511808" y="1999488"/>
                  </a:cubicBezTo>
                  <a:cubicBezTo>
                    <a:pt x="676910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34" name="Freeform 34"/>
            <p:cNvSpPr/>
            <p:nvPr/>
          </p:nvSpPr>
          <p:spPr>
            <a:xfrm>
              <a:off x="0" y="0"/>
              <a:ext cx="3057525" cy="2033270"/>
            </a:xfrm>
            <a:custGeom>
              <a:avLst/>
              <a:gdLst/>
              <a:ahLst/>
              <a:cxnLst/>
              <a:rect l="l" t="t" r="r" b="b"/>
              <a:pathLst>
                <a:path w="3057525" h="2033270">
                  <a:moveTo>
                    <a:pt x="0" y="1016635"/>
                  </a:moveTo>
                  <a:cubicBezTo>
                    <a:pt x="0" y="449453"/>
                    <a:pt x="691515" y="0"/>
                    <a:pt x="1528699" y="0"/>
                  </a:cubicBezTo>
                  <a:cubicBezTo>
                    <a:pt x="2366010" y="0"/>
                    <a:pt x="3057525" y="449453"/>
                    <a:pt x="3057525" y="1016635"/>
                  </a:cubicBezTo>
                  <a:lnTo>
                    <a:pt x="3040634" y="1016635"/>
                  </a:lnTo>
                  <a:lnTo>
                    <a:pt x="3057525" y="1016635"/>
                  </a:lnTo>
                  <a:cubicBezTo>
                    <a:pt x="3057525" y="1583817"/>
                    <a:pt x="2366010" y="2033270"/>
                    <a:pt x="1528826" y="2033270"/>
                  </a:cubicBezTo>
                  <a:lnTo>
                    <a:pt x="1528826" y="2016379"/>
                  </a:lnTo>
                  <a:lnTo>
                    <a:pt x="1528826" y="2033270"/>
                  </a:lnTo>
                  <a:cubicBezTo>
                    <a:pt x="691515" y="2033397"/>
                    <a:pt x="0" y="1583944"/>
                    <a:pt x="0" y="1016635"/>
                  </a:cubicBezTo>
                  <a:lnTo>
                    <a:pt x="16891" y="1016635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0" y="1016635"/>
                  </a:lnTo>
                  <a:moveTo>
                    <a:pt x="33909" y="1016635"/>
                  </a:moveTo>
                  <a:cubicBezTo>
                    <a:pt x="33909" y="1026033"/>
                    <a:pt x="26289" y="1033526"/>
                    <a:pt x="17018" y="1033526"/>
                  </a:cubicBezTo>
                  <a:cubicBezTo>
                    <a:pt x="7747" y="1033526"/>
                    <a:pt x="0" y="1026033"/>
                    <a:pt x="0" y="1016635"/>
                  </a:cubicBezTo>
                  <a:cubicBezTo>
                    <a:pt x="0" y="1007237"/>
                    <a:pt x="7620" y="999744"/>
                    <a:pt x="16891" y="999744"/>
                  </a:cubicBezTo>
                  <a:cubicBezTo>
                    <a:pt x="26162" y="999744"/>
                    <a:pt x="33782" y="1007364"/>
                    <a:pt x="33782" y="1016635"/>
                  </a:cubicBezTo>
                  <a:cubicBezTo>
                    <a:pt x="33782" y="1553718"/>
                    <a:pt x="696087" y="1999488"/>
                    <a:pt x="1528699" y="1999488"/>
                  </a:cubicBezTo>
                  <a:cubicBezTo>
                    <a:pt x="2361311" y="1999488"/>
                    <a:pt x="3023616" y="1553718"/>
                    <a:pt x="3023616" y="1016635"/>
                  </a:cubicBezTo>
                  <a:cubicBezTo>
                    <a:pt x="3023616" y="479552"/>
                    <a:pt x="2361311" y="33782"/>
                    <a:pt x="1528699" y="33782"/>
                  </a:cubicBezTo>
                  <a:lnTo>
                    <a:pt x="1528699" y="16891"/>
                  </a:lnTo>
                  <a:lnTo>
                    <a:pt x="1528699" y="33909"/>
                  </a:lnTo>
                  <a:cubicBezTo>
                    <a:pt x="696087" y="33909"/>
                    <a:pt x="33909" y="479679"/>
                    <a:pt x="33909" y="1016635"/>
                  </a:cubicBezTo>
                  <a:close/>
                </a:path>
              </a:pathLst>
            </a:custGeom>
            <a:solidFill>
              <a:srgbClr val="2F5496"/>
            </a:solidFill>
          </p:spPr>
        </p:sp>
      </p:grpSp>
      <p:grpSp>
        <p:nvGrpSpPr>
          <p:cNvPr id="35" name="Group 35"/>
          <p:cNvGrpSpPr/>
          <p:nvPr/>
        </p:nvGrpSpPr>
        <p:grpSpPr>
          <a:xfrm>
            <a:off x="12490709" y="6065270"/>
            <a:ext cx="2267712" cy="1499616"/>
            <a:chOff x="0" y="0"/>
            <a:chExt cx="3023616" cy="1999488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0"/>
                  </a:moveTo>
                  <a:lnTo>
                    <a:pt x="3023616" y="0"/>
                  </a:lnTo>
                  <a:lnTo>
                    <a:pt x="302361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845" r="-34845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-9525"/>
              <a:ext cx="3023616" cy="2009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33–68%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MTTR Imp.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10140872" y="3854358"/>
            <a:ext cx="2293115" cy="1525019"/>
            <a:chOff x="0" y="0"/>
            <a:chExt cx="3057487" cy="2033359"/>
          </a:xfrm>
        </p:grpSpPr>
        <p:sp>
          <p:nvSpPr>
            <p:cNvPr id="39" name="Freeform 39"/>
            <p:cNvSpPr/>
            <p:nvPr/>
          </p:nvSpPr>
          <p:spPr>
            <a:xfrm>
              <a:off x="16891" y="16891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999744"/>
                  </a:moveTo>
                  <a:cubicBezTo>
                    <a:pt x="0" y="447548"/>
                    <a:pt x="676910" y="0"/>
                    <a:pt x="1511808" y="0"/>
                  </a:cubicBezTo>
                  <a:cubicBezTo>
                    <a:pt x="2346706" y="0"/>
                    <a:pt x="3023616" y="447675"/>
                    <a:pt x="3023616" y="999744"/>
                  </a:cubicBezTo>
                  <a:cubicBezTo>
                    <a:pt x="3023616" y="1551813"/>
                    <a:pt x="2346706" y="1999488"/>
                    <a:pt x="1511808" y="1999488"/>
                  </a:cubicBezTo>
                  <a:cubicBezTo>
                    <a:pt x="676910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40" name="Freeform 40"/>
            <p:cNvSpPr/>
            <p:nvPr/>
          </p:nvSpPr>
          <p:spPr>
            <a:xfrm>
              <a:off x="0" y="0"/>
              <a:ext cx="3057525" cy="2033270"/>
            </a:xfrm>
            <a:custGeom>
              <a:avLst/>
              <a:gdLst/>
              <a:ahLst/>
              <a:cxnLst/>
              <a:rect l="l" t="t" r="r" b="b"/>
              <a:pathLst>
                <a:path w="3057525" h="2033270">
                  <a:moveTo>
                    <a:pt x="0" y="1016635"/>
                  </a:moveTo>
                  <a:cubicBezTo>
                    <a:pt x="0" y="449453"/>
                    <a:pt x="691515" y="0"/>
                    <a:pt x="1528699" y="0"/>
                  </a:cubicBezTo>
                  <a:cubicBezTo>
                    <a:pt x="2366010" y="0"/>
                    <a:pt x="3057525" y="449453"/>
                    <a:pt x="3057525" y="1016635"/>
                  </a:cubicBezTo>
                  <a:lnTo>
                    <a:pt x="3040634" y="1016635"/>
                  </a:lnTo>
                  <a:lnTo>
                    <a:pt x="3057525" y="1016635"/>
                  </a:lnTo>
                  <a:cubicBezTo>
                    <a:pt x="3057525" y="1583817"/>
                    <a:pt x="2366010" y="2033270"/>
                    <a:pt x="1528826" y="2033270"/>
                  </a:cubicBezTo>
                  <a:lnTo>
                    <a:pt x="1528826" y="2016379"/>
                  </a:lnTo>
                  <a:lnTo>
                    <a:pt x="1528826" y="2033270"/>
                  </a:lnTo>
                  <a:cubicBezTo>
                    <a:pt x="691515" y="2033397"/>
                    <a:pt x="0" y="1583944"/>
                    <a:pt x="0" y="1016635"/>
                  </a:cubicBezTo>
                  <a:lnTo>
                    <a:pt x="16891" y="1016635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0" y="1016635"/>
                  </a:lnTo>
                  <a:moveTo>
                    <a:pt x="33909" y="1016635"/>
                  </a:moveTo>
                  <a:cubicBezTo>
                    <a:pt x="33909" y="1026033"/>
                    <a:pt x="26289" y="1033526"/>
                    <a:pt x="17018" y="1033526"/>
                  </a:cubicBezTo>
                  <a:cubicBezTo>
                    <a:pt x="7747" y="1033526"/>
                    <a:pt x="0" y="1026033"/>
                    <a:pt x="0" y="1016635"/>
                  </a:cubicBezTo>
                  <a:cubicBezTo>
                    <a:pt x="0" y="1007237"/>
                    <a:pt x="7620" y="999744"/>
                    <a:pt x="16891" y="999744"/>
                  </a:cubicBezTo>
                  <a:cubicBezTo>
                    <a:pt x="26162" y="999744"/>
                    <a:pt x="33782" y="1007364"/>
                    <a:pt x="33782" y="1016635"/>
                  </a:cubicBezTo>
                  <a:cubicBezTo>
                    <a:pt x="33782" y="1553718"/>
                    <a:pt x="696087" y="1999488"/>
                    <a:pt x="1528699" y="1999488"/>
                  </a:cubicBezTo>
                  <a:cubicBezTo>
                    <a:pt x="2361311" y="1999488"/>
                    <a:pt x="3023616" y="1553718"/>
                    <a:pt x="3023616" y="1016635"/>
                  </a:cubicBezTo>
                  <a:cubicBezTo>
                    <a:pt x="3023616" y="479552"/>
                    <a:pt x="2361311" y="33782"/>
                    <a:pt x="1528699" y="33782"/>
                  </a:cubicBezTo>
                  <a:lnTo>
                    <a:pt x="1528699" y="16891"/>
                  </a:lnTo>
                  <a:lnTo>
                    <a:pt x="1528699" y="33909"/>
                  </a:lnTo>
                  <a:cubicBezTo>
                    <a:pt x="696087" y="33909"/>
                    <a:pt x="33909" y="479679"/>
                    <a:pt x="33909" y="1016635"/>
                  </a:cubicBezTo>
                  <a:close/>
                </a:path>
              </a:pathLst>
            </a:custGeom>
            <a:solidFill>
              <a:srgbClr val="2F5496"/>
            </a:solidFill>
          </p:spPr>
        </p:sp>
      </p:grpSp>
      <p:grpSp>
        <p:nvGrpSpPr>
          <p:cNvPr id="41" name="Group 41"/>
          <p:cNvGrpSpPr/>
          <p:nvPr/>
        </p:nvGrpSpPr>
        <p:grpSpPr>
          <a:xfrm>
            <a:off x="10153574" y="3730757"/>
            <a:ext cx="2267712" cy="1499616"/>
            <a:chOff x="0" y="0"/>
            <a:chExt cx="3023616" cy="1999488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0"/>
                  </a:moveTo>
                  <a:lnTo>
                    <a:pt x="3023616" y="0"/>
                  </a:lnTo>
                  <a:lnTo>
                    <a:pt x="302361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845" r="-34845"/>
              </a:stretch>
            </a:blipFill>
          </p:spPr>
        </p:sp>
        <p:sp>
          <p:nvSpPr>
            <p:cNvPr id="43" name="TextBox 43"/>
            <p:cNvSpPr txBox="1"/>
            <p:nvPr/>
          </p:nvSpPr>
          <p:spPr>
            <a:xfrm>
              <a:off x="0" y="-9525"/>
              <a:ext cx="3023616" cy="2009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≥92%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Accuracy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12408579" y="1449648"/>
            <a:ext cx="2293115" cy="1525019"/>
            <a:chOff x="0" y="0"/>
            <a:chExt cx="3057487" cy="2033359"/>
          </a:xfrm>
        </p:grpSpPr>
        <p:sp>
          <p:nvSpPr>
            <p:cNvPr id="45" name="Freeform 45"/>
            <p:cNvSpPr/>
            <p:nvPr/>
          </p:nvSpPr>
          <p:spPr>
            <a:xfrm>
              <a:off x="16891" y="16891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999744"/>
                  </a:moveTo>
                  <a:cubicBezTo>
                    <a:pt x="0" y="447548"/>
                    <a:pt x="676910" y="0"/>
                    <a:pt x="1511808" y="0"/>
                  </a:cubicBezTo>
                  <a:cubicBezTo>
                    <a:pt x="2346706" y="0"/>
                    <a:pt x="3023616" y="447675"/>
                    <a:pt x="3023616" y="999744"/>
                  </a:cubicBezTo>
                  <a:cubicBezTo>
                    <a:pt x="3023616" y="1551813"/>
                    <a:pt x="2346706" y="1999488"/>
                    <a:pt x="1511808" y="1999488"/>
                  </a:cubicBezTo>
                  <a:cubicBezTo>
                    <a:pt x="676910" y="1999488"/>
                    <a:pt x="0" y="1551940"/>
                    <a:pt x="0" y="999744"/>
                  </a:cubicBez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46" name="Freeform 46"/>
            <p:cNvSpPr/>
            <p:nvPr/>
          </p:nvSpPr>
          <p:spPr>
            <a:xfrm>
              <a:off x="0" y="0"/>
              <a:ext cx="3057525" cy="2033270"/>
            </a:xfrm>
            <a:custGeom>
              <a:avLst/>
              <a:gdLst/>
              <a:ahLst/>
              <a:cxnLst/>
              <a:rect l="l" t="t" r="r" b="b"/>
              <a:pathLst>
                <a:path w="3057525" h="2033270">
                  <a:moveTo>
                    <a:pt x="0" y="1016635"/>
                  </a:moveTo>
                  <a:cubicBezTo>
                    <a:pt x="0" y="449453"/>
                    <a:pt x="691515" y="0"/>
                    <a:pt x="1528699" y="0"/>
                  </a:cubicBezTo>
                  <a:cubicBezTo>
                    <a:pt x="2366010" y="0"/>
                    <a:pt x="3057525" y="449453"/>
                    <a:pt x="3057525" y="1016635"/>
                  </a:cubicBezTo>
                  <a:lnTo>
                    <a:pt x="3040634" y="1016635"/>
                  </a:lnTo>
                  <a:lnTo>
                    <a:pt x="3057525" y="1016635"/>
                  </a:lnTo>
                  <a:cubicBezTo>
                    <a:pt x="3057525" y="1583817"/>
                    <a:pt x="2366010" y="2033270"/>
                    <a:pt x="1528826" y="2033270"/>
                  </a:cubicBezTo>
                  <a:lnTo>
                    <a:pt x="1528826" y="2016379"/>
                  </a:lnTo>
                  <a:lnTo>
                    <a:pt x="1528826" y="2033270"/>
                  </a:lnTo>
                  <a:cubicBezTo>
                    <a:pt x="691515" y="2033397"/>
                    <a:pt x="0" y="1583944"/>
                    <a:pt x="0" y="1016635"/>
                  </a:cubicBezTo>
                  <a:lnTo>
                    <a:pt x="16891" y="1016635"/>
                  </a:lnTo>
                  <a:lnTo>
                    <a:pt x="33909" y="1016635"/>
                  </a:lnTo>
                  <a:lnTo>
                    <a:pt x="16891" y="1016635"/>
                  </a:lnTo>
                  <a:lnTo>
                    <a:pt x="0" y="1016635"/>
                  </a:lnTo>
                  <a:moveTo>
                    <a:pt x="33909" y="1016635"/>
                  </a:moveTo>
                  <a:cubicBezTo>
                    <a:pt x="33909" y="1026033"/>
                    <a:pt x="26289" y="1033526"/>
                    <a:pt x="17018" y="1033526"/>
                  </a:cubicBezTo>
                  <a:cubicBezTo>
                    <a:pt x="7747" y="1033526"/>
                    <a:pt x="0" y="1026033"/>
                    <a:pt x="0" y="1016635"/>
                  </a:cubicBezTo>
                  <a:cubicBezTo>
                    <a:pt x="0" y="1007237"/>
                    <a:pt x="7620" y="999744"/>
                    <a:pt x="16891" y="999744"/>
                  </a:cubicBezTo>
                  <a:cubicBezTo>
                    <a:pt x="26162" y="999744"/>
                    <a:pt x="33782" y="1007364"/>
                    <a:pt x="33782" y="1016635"/>
                  </a:cubicBezTo>
                  <a:cubicBezTo>
                    <a:pt x="33782" y="1553718"/>
                    <a:pt x="696087" y="1999488"/>
                    <a:pt x="1528699" y="1999488"/>
                  </a:cubicBezTo>
                  <a:cubicBezTo>
                    <a:pt x="2361311" y="1999488"/>
                    <a:pt x="3023616" y="1553718"/>
                    <a:pt x="3023616" y="1016635"/>
                  </a:cubicBezTo>
                  <a:cubicBezTo>
                    <a:pt x="3023616" y="479552"/>
                    <a:pt x="2361311" y="33782"/>
                    <a:pt x="1528699" y="33782"/>
                  </a:cubicBezTo>
                  <a:lnTo>
                    <a:pt x="1528699" y="16891"/>
                  </a:lnTo>
                  <a:lnTo>
                    <a:pt x="1528699" y="33909"/>
                  </a:lnTo>
                  <a:cubicBezTo>
                    <a:pt x="696087" y="33909"/>
                    <a:pt x="33909" y="479679"/>
                    <a:pt x="33909" y="1016635"/>
                  </a:cubicBezTo>
                  <a:close/>
                </a:path>
              </a:pathLst>
            </a:custGeom>
            <a:solidFill>
              <a:srgbClr val="2F5496"/>
            </a:solidFill>
          </p:spPr>
        </p:sp>
      </p:grpSp>
      <p:grpSp>
        <p:nvGrpSpPr>
          <p:cNvPr id="47" name="Group 47"/>
          <p:cNvGrpSpPr/>
          <p:nvPr/>
        </p:nvGrpSpPr>
        <p:grpSpPr>
          <a:xfrm>
            <a:off x="12421281" y="1408376"/>
            <a:ext cx="2267712" cy="1499616"/>
            <a:chOff x="0" y="0"/>
            <a:chExt cx="3023616" cy="1999488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3023616" cy="1999488"/>
            </a:xfrm>
            <a:custGeom>
              <a:avLst/>
              <a:gdLst/>
              <a:ahLst/>
              <a:cxnLst/>
              <a:rect l="l" t="t" r="r" b="b"/>
              <a:pathLst>
                <a:path w="3023616" h="1999488">
                  <a:moveTo>
                    <a:pt x="0" y="0"/>
                  </a:moveTo>
                  <a:lnTo>
                    <a:pt x="3023616" y="0"/>
                  </a:lnTo>
                  <a:lnTo>
                    <a:pt x="3023616" y="1999488"/>
                  </a:lnTo>
                  <a:lnTo>
                    <a:pt x="0" y="19994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4845" r="-34845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3023616" cy="200901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8 Mods</a:t>
              </a:r>
            </a:p>
            <a:p>
              <a:pPr algn="ctr">
                <a:lnSpc>
                  <a:spcPts val="1920"/>
                </a:lnSpc>
              </a:pPr>
              <a:r>
                <a:rPr lang="en-US" sz="16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Full Pipeline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9497063" y="8399783"/>
            <a:ext cx="8401307" cy="1342139"/>
            <a:chOff x="0" y="0"/>
            <a:chExt cx="11201743" cy="1789519"/>
          </a:xfrm>
        </p:grpSpPr>
        <p:sp>
          <p:nvSpPr>
            <p:cNvPr id="51" name="Freeform 51"/>
            <p:cNvSpPr/>
            <p:nvPr/>
          </p:nvSpPr>
          <p:spPr>
            <a:xfrm>
              <a:off x="16891" y="16891"/>
              <a:ext cx="11167872" cy="1755648"/>
            </a:xfrm>
            <a:custGeom>
              <a:avLst/>
              <a:gdLst/>
              <a:ahLst/>
              <a:cxnLst/>
              <a:rect l="l" t="t" r="r" b="b"/>
              <a:pathLst>
                <a:path w="11167872" h="1755648">
                  <a:moveTo>
                    <a:pt x="0" y="0"/>
                  </a:moveTo>
                  <a:lnTo>
                    <a:pt x="11167872" y="0"/>
                  </a:lnTo>
                  <a:lnTo>
                    <a:pt x="11167872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4472C4"/>
            </a:solidFill>
          </p:spPr>
        </p:sp>
        <p:sp>
          <p:nvSpPr>
            <p:cNvPr id="52" name="Freeform 52"/>
            <p:cNvSpPr/>
            <p:nvPr/>
          </p:nvSpPr>
          <p:spPr>
            <a:xfrm>
              <a:off x="0" y="0"/>
              <a:ext cx="11201654" cy="1789430"/>
            </a:xfrm>
            <a:custGeom>
              <a:avLst/>
              <a:gdLst/>
              <a:ahLst/>
              <a:cxnLst/>
              <a:rect l="l" t="t" r="r" b="b"/>
              <a:pathLst>
                <a:path w="11201654" h="1789430">
                  <a:moveTo>
                    <a:pt x="16891" y="0"/>
                  </a:moveTo>
                  <a:lnTo>
                    <a:pt x="11184763" y="0"/>
                  </a:lnTo>
                  <a:cubicBezTo>
                    <a:pt x="11194161" y="0"/>
                    <a:pt x="11201654" y="7620"/>
                    <a:pt x="11201654" y="16891"/>
                  </a:cubicBezTo>
                  <a:lnTo>
                    <a:pt x="11201654" y="1772539"/>
                  </a:lnTo>
                  <a:cubicBezTo>
                    <a:pt x="11201654" y="1781937"/>
                    <a:pt x="11194034" y="1789430"/>
                    <a:pt x="11184763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11184763" y="1755648"/>
                  </a:lnTo>
                  <a:lnTo>
                    <a:pt x="11184763" y="1772539"/>
                  </a:lnTo>
                  <a:lnTo>
                    <a:pt x="11167872" y="1772539"/>
                  </a:lnTo>
                  <a:lnTo>
                    <a:pt x="11167872" y="16891"/>
                  </a:lnTo>
                  <a:lnTo>
                    <a:pt x="11184763" y="16891"/>
                  </a:lnTo>
                  <a:lnTo>
                    <a:pt x="111847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F5496"/>
            </a:solidFill>
          </p:spPr>
        </p:sp>
      </p:grpSp>
      <p:grpSp>
        <p:nvGrpSpPr>
          <p:cNvPr id="53" name="Group 53"/>
          <p:cNvGrpSpPr/>
          <p:nvPr/>
        </p:nvGrpSpPr>
        <p:grpSpPr>
          <a:xfrm>
            <a:off x="9601200" y="8467344"/>
            <a:ext cx="8193024" cy="1207008"/>
            <a:chOff x="0" y="0"/>
            <a:chExt cx="10924032" cy="1609344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0924032" cy="1609344"/>
            </a:xfrm>
            <a:custGeom>
              <a:avLst/>
              <a:gdLst/>
              <a:ahLst/>
              <a:cxnLst/>
              <a:rect l="l" t="t" r="r" b="b"/>
              <a:pathLst>
                <a:path w="10924032" h="1609344">
                  <a:moveTo>
                    <a:pt x="0" y="0"/>
                  </a:moveTo>
                  <a:lnTo>
                    <a:pt x="10924032" y="0"/>
                  </a:lnTo>
                  <a:lnTo>
                    <a:pt x="10924032" y="1609344"/>
                  </a:lnTo>
                  <a:lnTo>
                    <a:pt x="0" y="160934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82262" b="-82262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-9525"/>
              <a:ext cx="10924032" cy="161886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400"/>
                </a:lnSpc>
              </a:pPr>
              <a:r>
                <a:rPr lang="en-US" sz="2000" i="1">
                  <a:solidFill>
                    <a:srgbClr val="FFFFFF"/>
                  </a:solidFill>
                  <a:latin typeface="Georgia Italics"/>
                  <a:ea typeface="Georgia Italics"/>
                  <a:cs typeface="Georgia Italics"/>
                  <a:sym typeface="Georgia Italics"/>
                </a:rPr>
                <a:t>The LLM-Powered SOC Analyst represents a meaningful step toward AI-augmented security operations that are both practical and analyst-centric.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6629383" y="9405623"/>
            <a:ext cx="1525019" cy="793499"/>
            <a:chOff x="0" y="0"/>
            <a:chExt cx="2033359" cy="1057999"/>
          </a:xfrm>
        </p:grpSpPr>
        <p:sp>
          <p:nvSpPr>
            <p:cNvPr id="13" name="Freeform 13"/>
            <p:cNvSpPr/>
            <p:nvPr/>
          </p:nvSpPr>
          <p:spPr>
            <a:xfrm>
              <a:off x="16891" y="16891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3A1600"/>
            </a:solidFill>
          </p:spPr>
        </p:sp>
        <p:sp>
          <p:nvSpPr>
            <p:cNvPr id="14" name="Freeform 14"/>
            <p:cNvSpPr/>
            <p:nvPr/>
          </p:nvSpPr>
          <p:spPr>
            <a:xfrm>
              <a:off x="0" y="0"/>
              <a:ext cx="2033270" cy="1057912"/>
            </a:xfrm>
            <a:custGeom>
              <a:avLst/>
              <a:gdLst/>
              <a:ahLst/>
              <a:cxnLst/>
              <a:rect l="l" t="t" r="r" b="b"/>
              <a:pathLst>
                <a:path w="2033270" h="1057912">
                  <a:moveTo>
                    <a:pt x="16891" y="0"/>
                  </a:moveTo>
                  <a:lnTo>
                    <a:pt x="2016379" y="0"/>
                  </a:lnTo>
                  <a:cubicBezTo>
                    <a:pt x="2025777" y="0"/>
                    <a:pt x="2033270" y="7620"/>
                    <a:pt x="2033270" y="16891"/>
                  </a:cubicBezTo>
                  <a:lnTo>
                    <a:pt x="2033270" y="1041019"/>
                  </a:lnTo>
                  <a:cubicBezTo>
                    <a:pt x="2033270" y="1050417"/>
                    <a:pt x="2025650" y="1057910"/>
                    <a:pt x="2016379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2016379" y="1024128"/>
                  </a:lnTo>
                  <a:lnTo>
                    <a:pt x="2016379" y="1041019"/>
                  </a:lnTo>
                  <a:lnTo>
                    <a:pt x="1999488" y="1041019"/>
                  </a:lnTo>
                  <a:lnTo>
                    <a:pt x="1999488" y="16891"/>
                  </a:lnTo>
                  <a:lnTo>
                    <a:pt x="2016379" y="16891"/>
                  </a:lnTo>
                  <a:lnTo>
                    <a:pt x="2016379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6642080" y="9418320"/>
            <a:ext cx="1499616" cy="768096"/>
            <a:chOff x="0" y="0"/>
            <a:chExt cx="1999488" cy="1024128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99488" cy="1024128"/>
            </a:xfrm>
            <a:custGeom>
              <a:avLst/>
              <a:gdLst/>
              <a:ahLst/>
              <a:cxnLst/>
              <a:rect l="l" t="t" r="r" b="b"/>
              <a:pathLst>
                <a:path w="1999488" h="1024128">
                  <a:moveTo>
                    <a:pt x="0" y="0"/>
                  </a:moveTo>
                  <a:lnTo>
                    <a:pt x="1999488" y="0"/>
                  </a:lnTo>
                  <a:lnTo>
                    <a:pt x="199948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5716" r="-15716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99488" cy="103365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SOC</a:t>
              </a:r>
            </a:p>
            <a:p>
              <a:pPr algn="ctr">
                <a:lnSpc>
                  <a:spcPts val="1439"/>
                </a:lnSpc>
              </a:pPr>
              <a:r>
                <a:rPr lang="en-US" sz="1200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ANALYST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320" y="402336"/>
            <a:ext cx="17739360" cy="1024128"/>
            <a:chOff x="0" y="0"/>
            <a:chExt cx="23652480" cy="136550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3652480" cy="1365504"/>
            </a:xfrm>
            <a:custGeom>
              <a:avLst/>
              <a:gdLst/>
              <a:ahLst/>
              <a:cxnLst/>
              <a:rect l="l" t="t" r="r" b="b"/>
              <a:pathLst>
                <a:path w="23652480" h="1365504">
                  <a:moveTo>
                    <a:pt x="0" y="0"/>
                  </a:moveTo>
                  <a:lnTo>
                    <a:pt x="23652480" y="0"/>
                  </a:lnTo>
                  <a:lnTo>
                    <a:pt x="2365248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7508" b="-287508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3652480" cy="136550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680"/>
                </a:lnSpc>
              </a:pPr>
              <a:r>
                <a:rPr lang="en-US" sz="6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Future Scope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45536" y="1682496"/>
            <a:ext cx="14721840" cy="548640"/>
            <a:chOff x="0" y="0"/>
            <a:chExt cx="1962912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1. Explainable AI (XAI) Integration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45536" y="2231136"/>
            <a:ext cx="14721840" cy="731520"/>
            <a:chOff x="0" y="0"/>
            <a:chExt cx="19629120" cy="97536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Implement SHAP/LIME-based explanation modules so analysts understand why the LLM classified an alert as critical — increasing trust and regulatory compliance.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145536" y="3035808"/>
            <a:ext cx="14721840" cy="548640"/>
            <a:chOff x="0" y="0"/>
            <a:chExt cx="19629120" cy="73152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2. Live SIEM Deployment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145536" y="3584448"/>
            <a:ext cx="14721840" cy="731520"/>
            <a:chOff x="0" y="0"/>
            <a:chExt cx="19629120" cy="97536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32" name="TextBox 32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Migrate from Flask-simulated SIEM to a production SIEM (Splunk, Microsoft Sentinel) with enterprise-grade live log volumes and real-time API integration.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45536" y="4389120"/>
            <a:ext cx="14721840" cy="548640"/>
            <a:chOff x="0" y="0"/>
            <a:chExt cx="19629120" cy="731520"/>
          </a:xfrm>
        </p:grpSpPr>
        <p:sp>
          <p:nvSpPr>
            <p:cNvPr id="34" name="Freeform 34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35" name="TextBox 35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3. Multimodal AI Analysis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3145536" y="4937760"/>
            <a:ext cx="14721840" cy="731520"/>
            <a:chOff x="0" y="0"/>
            <a:chExt cx="19629120" cy="975360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38" name="TextBox 38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Extend beyond text logs to incorporate network packet captures, memory forensics, and physical security system data into the threat analysis pipeline.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3145536" y="5742432"/>
            <a:ext cx="14721840" cy="548640"/>
            <a:chOff x="0" y="0"/>
            <a:chExt cx="19629120" cy="731520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41" name="TextBox 41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4. Federated Learning for SOC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3145536" y="6291072"/>
            <a:ext cx="14721840" cy="731520"/>
            <a:chOff x="0" y="0"/>
            <a:chExt cx="19629120" cy="975360"/>
          </a:xfrm>
        </p:grpSpPr>
        <p:sp>
          <p:nvSpPr>
            <p:cNvPr id="43" name="Freeform 43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44" name="TextBox 44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Enable multiple organizations to collaborate on threat model training without sharing sensitive log data — privacy-preserving collective intelligence.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145536" y="7095744"/>
            <a:ext cx="14721840" cy="548640"/>
            <a:chOff x="0" y="0"/>
            <a:chExt cx="19629120" cy="731520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47" name="TextBox 47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5. Autonomous Response Agents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3145536" y="7644384"/>
            <a:ext cx="14721840" cy="731520"/>
            <a:chOff x="0" y="0"/>
            <a:chExt cx="19629120" cy="975360"/>
          </a:xfrm>
        </p:grpSpPr>
        <p:sp>
          <p:nvSpPr>
            <p:cNvPr id="49" name="Freeform 49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50" name="TextBox 50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Evolve from decision-support to autonomous AI agents that execute containment actions (firewall blocks, account isolation) within policy-defined guardrails.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3145536" y="8449056"/>
            <a:ext cx="14721840" cy="548640"/>
            <a:chOff x="0" y="0"/>
            <a:chExt cx="19629120" cy="731520"/>
          </a:xfrm>
        </p:grpSpPr>
        <p:sp>
          <p:nvSpPr>
            <p:cNvPr id="52" name="Freeform 52"/>
            <p:cNvSpPr/>
            <p:nvPr/>
          </p:nvSpPr>
          <p:spPr>
            <a:xfrm>
              <a:off x="0" y="0"/>
              <a:ext cx="19629120" cy="731520"/>
            </a:xfrm>
            <a:custGeom>
              <a:avLst/>
              <a:gdLst/>
              <a:ahLst/>
              <a:cxnLst/>
              <a:rect l="l" t="t" r="r" b="b"/>
              <a:pathLst>
                <a:path w="19629120" h="731520">
                  <a:moveTo>
                    <a:pt x="0" y="0"/>
                  </a:moveTo>
                  <a:lnTo>
                    <a:pt x="19629120" y="0"/>
                  </a:lnTo>
                  <a:lnTo>
                    <a:pt x="19629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72848" b="-472848"/>
              </a:stretch>
            </a:blipFill>
          </p:spPr>
        </p:sp>
        <p:sp>
          <p:nvSpPr>
            <p:cNvPr id="53" name="TextBox 53"/>
            <p:cNvSpPr txBox="1"/>
            <p:nvPr/>
          </p:nvSpPr>
          <p:spPr>
            <a:xfrm>
              <a:off x="0" y="-9525"/>
              <a:ext cx="1962912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359"/>
                </a:lnSpc>
              </a:pPr>
              <a:r>
                <a:rPr lang="en-US" sz="2799" b="1">
                  <a:solidFill>
                    <a:srgbClr val="D4870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6. Fine-Tuned Security LLM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145536" y="8997696"/>
            <a:ext cx="14721840" cy="731520"/>
            <a:chOff x="0" y="0"/>
            <a:chExt cx="19629120" cy="975360"/>
          </a:xfrm>
        </p:grpSpPr>
        <p:sp>
          <p:nvSpPr>
            <p:cNvPr id="55" name="Freeform 55"/>
            <p:cNvSpPr/>
            <p:nvPr/>
          </p:nvSpPr>
          <p:spPr>
            <a:xfrm>
              <a:off x="0" y="0"/>
              <a:ext cx="19629120" cy="975360"/>
            </a:xfrm>
            <a:custGeom>
              <a:avLst/>
              <a:gdLst/>
              <a:ahLst/>
              <a:cxnLst/>
              <a:rect l="l" t="t" r="r" b="b"/>
              <a:pathLst>
                <a:path w="19629120" h="975360">
                  <a:moveTo>
                    <a:pt x="0" y="0"/>
                  </a:moveTo>
                  <a:lnTo>
                    <a:pt x="19629120" y="0"/>
                  </a:lnTo>
                  <a:lnTo>
                    <a:pt x="196291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42136" b="-342136"/>
              </a:stretch>
            </a:blipFill>
          </p:spPr>
        </p:sp>
        <p:sp>
          <p:nvSpPr>
            <p:cNvPr id="56" name="TextBox 56"/>
            <p:cNvSpPr txBox="1"/>
            <p:nvPr/>
          </p:nvSpPr>
          <p:spPr>
            <a:xfrm>
              <a:off x="0" y="0"/>
              <a:ext cx="19629120" cy="97536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60"/>
                </a:lnSpc>
              </a:pPr>
              <a:r>
                <a:rPr lang="en-US" sz="23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Train a domain-specific LLM fine-tuned on curated cybersecurity datasets (CICIDS, UNSW-NB15, CTI corpora) for higher triage accuracy and reduced hallucinations.</a:t>
              </a: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694944" y="960661"/>
            <a:ext cx="17629632" cy="1024128"/>
            <a:chOff x="0" y="0"/>
            <a:chExt cx="23506176" cy="136550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3506176" cy="1365504"/>
            </a:xfrm>
            <a:custGeom>
              <a:avLst/>
              <a:gdLst/>
              <a:ahLst/>
              <a:cxnLst/>
              <a:rect l="l" t="t" r="r" b="b"/>
              <a:pathLst>
                <a:path w="23506176" h="1365504">
                  <a:moveTo>
                    <a:pt x="0" y="0"/>
                  </a:moveTo>
                  <a:lnTo>
                    <a:pt x="23506176" y="0"/>
                  </a:lnTo>
                  <a:lnTo>
                    <a:pt x="23506176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85421" b="-285421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-9525"/>
              <a:ext cx="23506176" cy="1375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640"/>
                </a:lnSpc>
              </a:pPr>
              <a:r>
                <a:rPr lang="en-US" sz="7200" b="1">
                  <a:solidFill>
                    <a:srgbClr val="FFFFF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References</a:t>
              </a:r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475488" y="2530027"/>
            <a:ext cx="8449056" cy="8293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1. Srinivas, S., et al. (2025). AI-Augmented SOC: A Survey of LLMs and Agents for Security Automation. J. Cybersecurity and Privacy.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2. Mohsin, A., et al. (2025). A Unified Framework for Human AI Collaboration in SOCs with Trusted Autonomy. arXiv:2505.23397.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3. Large Language Models for Security Operations Centers: A Comprehensive Survey. arXiv, 2025.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4. Wei, B., et al. (2025). CORTEX: Collaborative LLM Agents for High-Stakes Alert Triage. arXiv:2510.00311.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5. Reynolds, J. F. (2025). Automated Incident Response Playbooks Using Policy-Driven LLM Agents. IJRPS, 16(4).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6. Tellache, A., et al. (2025). Advancing Autonomous Incident Response: Leveraging LLMs and CTI. arXiv:2508.10677.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7. LLM-Powered Threat Intelligence: RAG for Cyber Attack Investigation. PeerJ, 2025.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8. Reducing False Alerts in Cybersecurity Using Generative AI. KDD AI4Cyber Workshop, 2024.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09760" y="2530027"/>
            <a:ext cx="8449056" cy="441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9. Alert Fatigue in Security Operations Centres: Research Challenges and Opportunities. ACM Computing Surveys, 2023.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10. LLM-SIEM Integration for Tier-1 SOC Alert Triage, 2025.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11. Saju, M. H., et al. (2025). SynRAG: LLM Framework for Executable Query Generation in Heterogeneous SIEM. arXiv:2512.24571.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12. Machine Learning Techniques for Log-Based Anomaly Detection. Springer, 2025.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13. Deep Learning for Anomaly Detection in Log Data. ScienceDirect, 2024.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14. Enhancing Log Anomaly Detection with Semantic Features (LogCEM). CMC Journal, 2025.</a:t>
            </a:r>
          </a:p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15. Mareedu, A. (2025). LLM-Powered Cyber Defense: Applications in Threat Detection and Response. ESP-IJACT.</a:t>
            </a:r>
          </a:p>
          <a:p>
            <a:pPr algn="l">
              <a:lnSpc>
                <a:spcPts val="2520"/>
              </a:lnSpc>
            </a:pPr>
            <a:endParaRPr lang="en-US" sz="2100">
              <a:solidFill>
                <a:srgbClr val="FFFFFF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3145536" y="402336"/>
            <a:ext cx="14721840" cy="1024128"/>
            <a:chOff x="0" y="0"/>
            <a:chExt cx="19629120" cy="1365504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629120" cy="1365504"/>
            </a:xfrm>
            <a:custGeom>
              <a:avLst/>
              <a:gdLst/>
              <a:ahLst/>
              <a:cxnLst/>
              <a:rect l="l" t="t" r="r" b="b"/>
              <a:pathLst>
                <a:path w="19629120" h="1365504">
                  <a:moveTo>
                    <a:pt x="0" y="0"/>
                  </a:moveTo>
                  <a:lnTo>
                    <a:pt x="19629120" y="0"/>
                  </a:lnTo>
                  <a:lnTo>
                    <a:pt x="19629120" y="1365504"/>
                  </a:lnTo>
                  <a:lnTo>
                    <a:pt x="0" y="136550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30097" b="-230097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-9525"/>
              <a:ext cx="19629120" cy="13750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8159"/>
                </a:lnSpc>
              </a:pPr>
              <a:r>
                <a:rPr lang="en-US" sz="68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Acknowledgment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3145536" y="1719072"/>
            <a:ext cx="14721840" cy="1737360"/>
            <a:chOff x="0" y="0"/>
            <a:chExt cx="19629120" cy="23164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629120" cy="2316480"/>
            </a:xfrm>
            <a:custGeom>
              <a:avLst/>
              <a:gdLst/>
              <a:ahLst/>
              <a:cxnLst/>
              <a:rect l="l" t="t" r="r" b="b"/>
              <a:pathLst>
                <a:path w="19629120" h="2316480">
                  <a:moveTo>
                    <a:pt x="0" y="0"/>
                  </a:moveTo>
                  <a:lnTo>
                    <a:pt x="19629120" y="0"/>
                  </a:lnTo>
                  <a:lnTo>
                    <a:pt x="196291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110" b="-11511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9525"/>
              <a:ext cx="1962912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We express our heartfelt gratitude to our Principal for providing us with an excellent academic environment and continuous encouragement throughout our project.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145536" y="3694176"/>
            <a:ext cx="14721840" cy="1737360"/>
            <a:chOff x="0" y="0"/>
            <a:chExt cx="19629120" cy="231648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9629120" cy="2316480"/>
            </a:xfrm>
            <a:custGeom>
              <a:avLst/>
              <a:gdLst/>
              <a:ahLst/>
              <a:cxnLst/>
              <a:rect l="l" t="t" r="r" b="b"/>
              <a:pathLst>
                <a:path w="19629120" h="2316480">
                  <a:moveTo>
                    <a:pt x="0" y="0"/>
                  </a:moveTo>
                  <a:lnTo>
                    <a:pt x="19629120" y="0"/>
                  </a:lnTo>
                  <a:lnTo>
                    <a:pt x="196291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110" b="-11511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9525"/>
              <a:ext cx="1962912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We extend our sincere thanks to our Head of Department, Computer Engineering, for unwavering support, insightful guidance, and valuable inputs that greatly enriched our understanding and execution of this project.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145536" y="5669280"/>
            <a:ext cx="14721840" cy="1737360"/>
            <a:chOff x="0" y="0"/>
            <a:chExt cx="19629120" cy="231648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629120" cy="2316480"/>
            </a:xfrm>
            <a:custGeom>
              <a:avLst/>
              <a:gdLst/>
              <a:ahLst/>
              <a:cxnLst/>
              <a:rect l="l" t="t" r="r" b="b"/>
              <a:pathLst>
                <a:path w="19629120" h="2316480">
                  <a:moveTo>
                    <a:pt x="0" y="0"/>
                  </a:moveTo>
                  <a:lnTo>
                    <a:pt x="19629120" y="0"/>
                  </a:lnTo>
                  <a:lnTo>
                    <a:pt x="196291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110" b="-11511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962912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A special note of appreciation goes to our Project Guide, Prof. Suresh Babu, whose expertise, patience, and constant motivation have played a crucial role in the successful completion of this work. His constructive feedback has significantly enhanced the quality of our research.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3145536" y="7644384"/>
            <a:ext cx="14721840" cy="1737360"/>
            <a:chOff x="0" y="0"/>
            <a:chExt cx="19629120" cy="2316480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9629120" cy="2316480"/>
            </a:xfrm>
            <a:custGeom>
              <a:avLst/>
              <a:gdLst/>
              <a:ahLst/>
              <a:cxnLst/>
              <a:rect l="l" t="t" r="r" b="b"/>
              <a:pathLst>
                <a:path w="19629120" h="2316480">
                  <a:moveTo>
                    <a:pt x="0" y="0"/>
                  </a:moveTo>
                  <a:lnTo>
                    <a:pt x="19629120" y="0"/>
                  </a:lnTo>
                  <a:lnTo>
                    <a:pt x="196291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115110" b="-115110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-9525"/>
              <a:ext cx="19629120" cy="232600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999"/>
                </a:lnSpc>
              </a:pPr>
              <a:r>
                <a:rPr lang="en-US" sz="2499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Lastly, we would like to thank our faculty members, peers, and everyone who has directly or indirectly contributed to the completion of this project. Their support and encouragement have been truly invaluable.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2697" y="316487"/>
            <a:ext cx="18313403" cy="89411"/>
            <a:chOff x="0" y="0"/>
            <a:chExt cx="24417871" cy="119215"/>
          </a:xfrm>
        </p:grpSpPr>
        <p:sp>
          <p:nvSpPr>
            <p:cNvPr id="3" name="Freeform 3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4" name="Freeform 4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5" name="Group 5"/>
          <p:cNvGrpSpPr/>
          <p:nvPr/>
        </p:nvGrpSpPr>
        <p:grpSpPr>
          <a:xfrm>
            <a:off x="-12697" y="9899399"/>
            <a:ext cx="18313403" cy="89411"/>
            <a:chOff x="0" y="0"/>
            <a:chExt cx="24417871" cy="119215"/>
          </a:xfrm>
        </p:grpSpPr>
        <p:sp>
          <p:nvSpPr>
            <p:cNvPr id="6" name="Freeform 6"/>
            <p:cNvSpPr/>
            <p:nvPr/>
          </p:nvSpPr>
          <p:spPr>
            <a:xfrm>
              <a:off x="16891" y="16891"/>
              <a:ext cx="24383999" cy="85344"/>
            </a:xfrm>
            <a:custGeom>
              <a:avLst/>
              <a:gdLst/>
              <a:ahLst/>
              <a:cxnLst/>
              <a:rect l="l" t="t" r="r" b="b"/>
              <a:pathLst>
                <a:path w="24383999" h="85344">
                  <a:moveTo>
                    <a:pt x="0" y="0"/>
                  </a:moveTo>
                  <a:lnTo>
                    <a:pt x="24383999" y="0"/>
                  </a:lnTo>
                  <a:lnTo>
                    <a:pt x="24383999" y="85344"/>
                  </a:lnTo>
                  <a:lnTo>
                    <a:pt x="0" y="85344"/>
                  </a:lnTo>
                  <a:close/>
                </a:path>
              </a:pathLst>
            </a:custGeom>
            <a:solidFill>
              <a:srgbClr val="7A4010"/>
            </a:solidFill>
          </p:spPr>
        </p:sp>
        <p:sp>
          <p:nvSpPr>
            <p:cNvPr id="7" name="Freeform 7"/>
            <p:cNvSpPr/>
            <p:nvPr/>
          </p:nvSpPr>
          <p:spPr>
            <a:xfrm>
              <a:off x="0" y="0"/>
              <a:ext cx="24417782" cy="119128"/>
            </a:xfrm>
            <a:custGeom>
              <a:avLst/>
              <a:gdLst/>
              <a:ahLst/>
              <a:cxnLst/>
              <a:rect l="l" t="t" r="r" b="b"/>
              <a:pathLst>
                <a:path w="24417782" h="119128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02235"/>
                  </a:lnTo>
                  <a:cubicBezTo>
                    <a:pt x="24417782" y="111633"/>
                    <a:pt x="24410163" y="119126"/>
                    <a:pt x="24400890" y="119126"/>
                  </a:cubicBezTo>
                  <a:lnTo>
                    <a:pt x="16891" y="119126"/>
                  </a:lnTo>
                  <a:cubicBezTo>
                    <a:pt x="7620" y="119253"/>
                    <a:pt x="0" y="111633"/>
                    <a:pt x="0" y="10223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2235"/>
                  </a:lnTo>
                  <a:lnTo>
                    <a:pt x="16891" y="102235"/>
                  </a:lnTo>
                  <a:lnTo>
                    <a:pt x="16891" y="85344"/>
                  </a:lnTo>
                  <a:lnTo>
                    <a:pt x="24400890" y="85344"/>
                  </a:lnTo>
                  <a:lnTo>
                    <a:pt x="24400890" y="102235"/>
                  </a:lnTo>
                  <a:lnTo>
                    <a:pt x="24384000" y="10223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-1567177" y="1121159"/>
            <a:ext cx="4414523" cy="4414523"/>
            <a:chOff x="0" y="0"/>
            <a:chExt cx="5886031" cy="588603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0" name="Group 10"/>
          <p:cNvGrpSpPr/>
          <p:nvPr/>
        </p:nvGrpSpPr>
        <p:grpSpPr>
          <a:xfrm>
            <a:off x="-561337" y="2090423"/>
            <a:ext cx="4414523" cy="4414523"/>
            <a:chOff x="0" y="0"/>
            <a:chExt cx="5886031" cy="588603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86069" cy="5885942"/>
            </a:xfrm>
            <a:custGeom>
              <a:avLst/>
              <a:gdLst/>
              <a:ahLst/>
              <a:cxnLst/>
              <a:rect l="l" t="t" r="r" b="b"/>
              <a:pathLst>
                <a:path w="5886069" h="5885942">
                  <a:moveTo>
                    <a:pt x="0" y="2942971"/>
                  </a:moveTo>
                  <a:cubicBezTo>
                    <a:pt x="0" y="1317625"/>
                    <a:pt x="1317625" y="0"/>
                    <a:pt x="2942971" y="0"/>
                  </a:cubicBezTo>
                  <a:lnTo>
                    <a:pt x="2942971" y="16891"/>
                  </a:lnTo>
                  <a:lnTo>
                    <a:pt x="2942971" y="0"/>
                  </a:lnTo>
                  <a:cubicBezTo>
                    <a:pt x="4568444" y="0"/>
                    <a:pt x="5886069" y="1317625"/>
                    <a:pt x="5886069" y="2942971"/>
                  </a:cubicBezTo>
                  <a:lnTo>
                    <a:pt x="5869178" y="2942971"/>
                  </a:lnTo>
                  <a:lnTo>
                    <a:pt x="5886069" y="2942971"/>
                  </a:lnTo>
                  <a:cubicBezTo>
                    <a:pt x="5886069" y="4568317"/>
                    <a:pt x="4568444" y="5885942"/>
                    <a:pt x="2943098" y="5885942"/>
                  </a:cubicBezTo>
                  <a:lnTo>
                    <a:pt x="2943098" y="5869051"/>
                  </a:lnTo>
                  <a:lnTo>
                    <a:pt x="2943098" y="5885942"/>
                  </a:lnTo>
                  <a:cubicBezTo>
                    <a:pt x="1317625" y="5886069"/>
                    <a:pt x="0" y="4568444"/>
                    <a:pt x="0" y="2942971"/>
                  </a:cubicBezTo>
                  <a:lnTo>
                    <a:pt x="16891" y="2942971"/>
                  </a:lnTo>
                  <a:lnTo>
                    <a:pt x="33909" y="2942971"/>
                  </a:lnTo>
                  <a:lnTo>
                    <a:pt x="16891" y="2942971"/>
                  </a:lnTo>
                  <a:lnTo>
                    <a:pt x="0" y="2942971"/>
                  </a:lnTo>
                  <a:moveTo>
                    <a:pt x="33909" y="2942971"/>
                  </a:moveTo>
                  <a:cubicBezTo>
                    <a:pt x="33909" y="2952369"/>
                    <a:pt x="26289" y="2959862"/>
                    <a:pt x="17018" y="2959862"/>
                  </a:cubicBezTo>
                  <a:cubicBezTo>
                    <a:pt x="7747" y="2959862"/>
                    <a:pt x="0" y="2952369"/>
                    <a:pt x="0" y="2942971"/>
                  </a:cubicBezTo>
                  <a:cubicBezTo>
                    <a:pt x="0" y="2933573"/>
                    <a:pt x="7620" y="2926080"/>
                    <a:pt x="16891" y="2926080"/>
                  </a:cubicBezTo>
                  <a:cubicBezTo>
                    <a:pt x="26162" y="2926080"/>
                    <a:pt x="33782" y="2933700"/>
                    <a:pt x="33782" y="2942971"/>
                  </a:cubicBezTo>
                  <a:cubicBezTo>
                    <a:pt x="33782" y="4549648"/>
                    <a:pt x="1336294" y="5852160"/>
                    <a:pt x="2942971" y="5852160"/>
                  </a:cubicBezTo>
                  <a:cubicBezTo>
                    <a:pt x="4549648" y="5852160"/>
                    <a:pt x="5852160" y="4549648"/>
                    <a:pt x="5852160" y="2942971"/>
                  </a:cubicBezTo>
                  <a:cubicBezTo>
                    <a:pt x="5852160" y="1336294"/>
                    <a:pt x="4549648" y="33909"/>
                    <a:pt x="2942971" y="33909"/>
                  </a:cubicBezTo>
                  <a:lnTo>
                    <a:pt x="2942971" y="16891"/>
                  </a:lnTo>
                  <a:lnTo>
                    <a:pt x="2942971" y="33909"/>
                  </a:lnTo>
                  <a:cubicBezTo>
                    <a:pt x="1336294" y="33909"/>
                    <a:pt x="33909" y="1336294"/>
                    <a:pt x="33909" y="2942971"/>
                  </a:cubicBezTo>
                  <a:close/>
                </a:path>
              </a:pathLst>
            </a:custGeom>
            <a:solidFill>
              <a:srgbClr val="7A4010"/>
            </a:solidFill>
          </p:spPr>
        </p:sp>
      </p:grpSp>
      <p:grpSp>
        <p:nvGrpSpPr>
          <p:cNvPr id="12" name="Group 12"/>
          <p:cNvGrpSpPr/>
          <p:nvPr/>
        </p:nvGrpSpPr>
        <p:grpSpPr>
          <a:xfrm>
            <a:off x="1828800" y="2743200"/>
            <a:ext cx="14630400" cy="3291840"/>
            <a:chOff x="0" y="0"/>
            <a:chExt cx="19507200" cy="43891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9507200" cy="4389120"/>
            </a:xfrm>
            <a:custGeom>
              <a:avLst/>
              <a:gdLst/>
              <a:ahLst/>
              <a:cxnLst/>
              <a:rect l="l" t="t" r="r" b="b"/>
              <a:pathLst>
                <a:path w="19507200" h="4389120">
                  <a:moveTo>
                    <a:pt x="0" y="0"/>
                  </a:moveTo>
                  <a:lnTo>
                    <a:pt x="19507200" y="0"/>
                  </a:lnTo>
                  <a:lnTo>
                    <a:pt x="19507200" y="4389120"/>
                  </a:lnTo>
                  <a:lnTo>
                    <a:pt x="0" y="4389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6600" b="-36600"/>
              </a:stretch>
            </a:blipFill>
          </p:spPr>
        </p:sp>
        <p:sp>
          <p:nvSpPr>
            <p:cNvPr id="14" name="TextBox 14"/>
            <p:cNvSpPr txBox="1"/>
            <p:nvPr/>
          </p:nvSpPr>
          <p:spPr>
            <a:xfrm>
              <a:off x="0" y="0"/>
              <a:ext cx="19507200" cy="438912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280"/>
                </a:lnSpc>
              </a:pPr>
              <a:r>
                <a:rPr lang="en-US" sz="144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Thank You !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2743200" y="6310036"/>
            <a:ext cx="12801600" cy="822960"/>
            <a:chOff x="0" y="0"/>
            <a:chExt cx="17068800" cy="109728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068800" cy="1097280"/>
            </a:xfrm>
            <a:custGeom>
              <a:avLst/>
              <a:gdLst/>
              <a:ahLst/>
              <a:cxnLst/>
              <a:rect l="l" t="t" r="r" b="b"/>
              <a:pathLst>
                <a:path w="17068800" h="1097280">
                  <a:moveTo>
                    <a:pt x="0" y="0"/>
                  </a:moveTo>
                  <a:lnTo>
                    <a:pt x="17068800" y="0"/>
                  </a:lnTo>
                  <a:lnTo>
                    <a:pt x="17068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253100" b="-25310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17068800" cy="111633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F5E6CC"/>
                  </a:solidFill>
                  <a:latin typeface="Georgia"/>
                  <a:ea typeface="Georgia"/>
                  <a:cs typeface="Georgia"/>
                  <a:sym typeface="Georgia"/>
                </a:rPr>
                <a:t>LLM-Powered SOC Analyst for Intelligent Alert Triage and Incident Response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2743200" y="7315200"/>
            <a:ext cx="12801600" cy="658368"/>
            <a:chOff x="0" y="0"/>
            <a:chExt cx="17068800" cy="877824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7068800" cy="877824"/>
            </a:xfrm>
            <a:custGeom>
              <a:avLst/>
              <a:gdLst/>
              <a:ahLst/>
              <a:cxnLst/>
              <a:rect l="l" t="t" r="r" b="b"/>
              <a:pathLst>
                <a:path w="17068800" h="877824">
                  <a:moveTo>
                    <a:pt x="0" y="0"/>
                  </a:moveTo>
                  <a:lnTo>
                    <a:pt x="17068800" y="0"/>
                  </a:lnTo>
                  <a:lnTo>
                    <a:pt x="1706880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328875" b="-328875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-19050"/>
              <a:ext cx="17068800" cy="8968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>
                  <a:solidFill>
                    <a:srgbClr val="FFFFFF"/>
                  </a:solidFill>
                  <a:latin typeface="Georgia"/>
                  <a:ea typeface="Georgia"/>
                  <a:cs typeface="Georgia"/>
                  <a:sym typeface="Georgia"/>
                </a:rPr>
                <a:t>Lokesh Zade  |  Tejas Nair  |  Akash Pillai  |  Prem Patil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743200" y="8083296"/>
            <a:ext cx="12801600" cy="548640"/>
            <a:chOff x="0" y="0"/>
            <a:chExt cx="17068800" cy="73152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7068800" cy="731520"/>
            </a:xfrm>
            <a:custGeom>
              <a:avLst/>
              <a:gdLst/>
              <a:ahLst/>
              <a:cxnLst/>
              <a:rect l="l" t="t" r="r" b="b"/>
              <a:pathLst>
                <a:path w="17068800" h="731520">
                  <a:moveTo>
                    <a:pt x="0" y="0"/>
                  </a:moveTo>
                  <a:lnTo>
                    <a:pt x="17068800" y="0"/>
                  </a:lnTo>
                  <a:lnTo>
                    <a:pt x="17068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t="-404650" b="-4046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-9525"/>
              <a:ext cx="17068800" cy="74104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2520"/>
                </a:lnSpc>
              </a:pPr>
              <a:r>
                <a:rPr lang="en-US" sz="2100">
                  <a:solidFill>
                    <a:srgbClr val="D4870A"/>
                  </a:solidFill>
                  <a:latin typeface="Georgia"/>
                  <a:ea typeface="Georgia"/>
                  <a:cs typeface="Georgia"/>
                  <a:sym typeface="Georgia"/>
                </a:rPr>
                <a:t>Project Guide: Prof. Suresh Babu  |  Dept. of Computer Engineering  |  AY 2025–2026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3152</Words>
  <Application>Microsoft Office PowerPoint</Application>
  <PresentationFormat>Custom</PresentationFormat>
  <Paragraphs>449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Georgia Italics</vt:lpstr>
      <vt:lpstr>Georgia</vt:lpstr>
      <vt:lpstr>Georgia Bold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LLM_SOC_MajorProject_Final.pptx</dc:title>
  <cp:lastModifiedBy>Prem Patil</cp:lastModifiedBy>
  <cp:revision>3</cp:revision>
  <dcterms:created xsi:type="dcterms:W3CDTF">2006-08-16T00:00:00Z</dcterms:created>
  <dcterms:modified xsi:type="dcterms:W3CDTF">2026-03-18T05:25:03Z</dcterms:modified>
  <dc:identifier>DAHEMee6CEI</dc:identifier>
</cp:coreProperties>
</file>